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và các bạn, hôm nay nhóm xin báo cáo đề tài Phân đoạn tiếng nói và khoảng lặng trên tín hiệu âm thanh sử dụng 3 thuật toán xác định ngưỡng toàn cục.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phân đoạn tiếng nói đối mặt với 2 thách thức lớn: nhiễu môi trường trong các cuộc gọi điện thoại và sự tồn tại của các phụ âm vô thanh mang năng lượng rất thấp.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gồm 5 bước khép kín: Chuẩn hóa biên độ; Phân khung Hamming 20ms chồng chập 10ms; Trích xuất STE/log(STE); Áp ngưỡng toàn cục; và Hậu xử lý lọc các đoạn dưới 200ms.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giữa STE tuyến tính và log(STE): Thang đo log kéo dãn vùng năng lượng thấp của khoảng lặng, tạo thành 2 đỉnh phân bố tách biệt rõ rệt.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1 tìm kiếm nhị phân chia đôi khoảng ngưỡng qua 12 vòng lặp trên tập huấn luyện, đạt ngưỡng tối ưu T = 0.000798 với tổng sai số thấp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2 lập biểu đồ Histogram trên log(STE), phát hiện 2 cực đại và xác định đáy thung lũng với trọng số W = 2.0, mang lại ngưỡng T = -2.4375.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3 mô hình hóa xác suất bằng phân phối chuẩn cho cả hai trạng thái. Giao điểm của hai đường phân phối xác suất mang lại ngưỡng Bayes T = 0.000792.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hợp trên tập huấn luyện: Cả 3 phương pháp đều hội tụ nhanh chóng. TT1 và TT3 cho ngưỡng tuyến tính gần như trùng khớp, trong khi TT2 đạt MAE huấn luyện thấp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kiểm thử TT1: Biên thuật toán màu xanh bám sát biên chuẩn màu đỏ. F0 xuất hiện chuẩn xác bên trong vùng tiếng nói. Studio F2 đạt MAE xuất sắc 2.49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kiểm thử TT2: Biểu diễn log(STE) giúp giữ vững ranh giới âm thanh trong môi trường phone_F2, giảm sai số từ 62.5 ms xuống còn 45.0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kiểm thử TT3: Tương đương TT1 do ngưỡng Bayes hội tụ tại 0.000792. Phân đoạn rất hoàn hảo ở môi trường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phòng thu có tỉ số SNR rất cao, ranh giới năng lượng dốc đứng giúp cả 3 thuật toán đạt độ chính xác gần như tuyệt đối với MAE chỉ vài mili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điện thoại có mức nhiễu nền đáng kể. Thuật toán 2 Histogram trên log(STE) thể hiện tính vượt trội rõ rệt khi giảm đáng kể sai số phân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vào biểu đồ so sánh: Ở phòng thu, cả 3 thuật toán đều đạt MAE 7-8 ms. Nhưng ở môi trường điện thoại có nhiễu, Histogram log(STE) vượt trội với MAE chỉ 27.5 ms so với 35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Histogram trên log(STE) là giải pháp tối ưu nhất cho bài toán ngưỡng đơn. Nguyên nhân sai số chủ yếu rơi vào âm vô thanh mang năng lượng thấp. Hướng phát triển tiếp theo là kết hợp ngưỡng kép STE và ZCR.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1/15</a:t>
            </a:r>
            <a:endParaRPr lang="en-US" sz="900" dirty="0"/>
          </a:p>
        </p:txBody>
      </p:sp>
      <p:sp>
        <p:nvSpPr>
          <p:cNvPr id="6" name="Shape 4"/>
          <p:cNvSpPr/>
          <p:nvPr/>
        </p:nvSpPr>
        <p:spPr>
          <a:xfrm>
            <a:off x="548640" y="457200"/>
            <a:ext cx="8046720" cy="4206240"/>
          </a:xfrm>
          <a:prstGeom prst="roundRect">
            <a:avLst>
              <a:gd name="adj" fmla="val 3261"/>
            </a:avLst>
          </a:prstGeom>
          <a:solidFill>
            <a:srgbClr val="FFFFFF"/>
          </a:solidFill>
          <a:ln w="25400">
            <a:solidFill>
              <a:srgbClr val="1E293B"/>
            </a:solidFill>
            <a:prstDash val="solid"/>
          </a:ln>
        </p:spPr>
      </p:sp>
      <p:sp>
        <p:nvSpPr>
          <p:cNvPr id="7" name="Shape 5"/>
          <p:cNvSpPr/>
          <p:nvPr/>
        </p:nvSpPr>
        <p:spPr>
          <a:xfrm>
            <a:off x="914400" y="731520"/>
            <a:ext cx="3474720" cy="365760"/>
          </a:xfrm>
          <a:prstGeom prst="roundRect">
            <a:avLst>
              <a:gd name="adj" fmla="val 20000"/>
            </a:avLst>
          </a:prstGeom>
          <a:solidFill>
            <a:srgbClr val="F58220"/>
          </a:solidFill>
          <a:ln w="12700">
            <a:solidFill>
              <a:srgbClr val="F58220"/>
            </a:solidFill>
            <a:prstDash val="solid"/>
          </a:ln>
        </p:spPr>
      </p:sp>
      <p:sp>
        <p:nvSpPr>
          <p:cNvPr id="8" name="Text 6"/>
          <p:cNvSpPr/>
          <p:nvPr/>
        </p:nvSpPr>
        <p:spPr>
          <a:xfrm>
            <a:off x="914400" y="731520"/>
            <a:ext cx="34747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XỬ LÝ TÍN HIỆU SỐ — ĐỒ ÁN GIỮA KỲ</a:t>
            </a:r>
            <a:endParaRPr lang="en-US" sz="1200" dirty="0"/>
          </a:p>
        </p:txBody>
      </p:sp>
      <p:sp>
        <p:nvSpPr>
          <p:cNvPr id="9" name="Text 7"/>
          <p:cNvSpPr/>
          <p:nvPr/>
        </p:nvSpPr>
        <p:spPr>
          <a:xfrm>
            <a:off x="914400" y="1234440"/>
            <a:ext cx="7315200" cy="1097280"/>
          </a:xfrm>
          <a:prstGeom prst="rect">
            <a:avLst/>
          </a:prstGeom>
          <a:noFill/>
          <a:ln/>
        </p:spPr>
        <p:txBody>
          <a:bodyPr wrap="square" lIns="0" tIns="0" rIns="0" bIns="0" rtlCol="0" anchor="ctr"/>
          <a:lstStyle/>
          <a:p>
            <a:pPr indent="0" marL="0">
              <a:lnSpc>
                <a:spcPts val="3600"/>
              </a:lnSpc>
              <a:buNone/>
            </a:pPr>
            <a:r>
              <a:rPr lang="en-US" sz="3200" b="1" dirty="0">
                <a:solidFill>
                  <a:srgbClr val="00A8FF"/>
                </a:solidFill>
                <a:latin typeface="Arial" pitchFamily="34" charset="0"/>
                <a:ea typeface="Arial" pitchFamily="34" charset="-122"/>
                <a:cs typeface="Arial" pitchFamily="34" charset="-120"/>
              </a:rPr>
              <a:t>PHÂN ĐOẠN TIẾNG NÓI</a:t>
            </a:r>
            <a:endParaRPr lang="en-US" sz="3200" dirty="0"/>
          </a:p>
          <a:p>
            <a:pPr indent="0" marL="0">
              <a:lnSpc>
                <a:spcPts val="3600"/>
              </a:lnSpc>
              <a:buNone/>
            </a:pPr>
            <a:r>
              <a:rPr lang="en-US" sz="3200" b="1" dirty="0">
                <a:solidFill>
                  <a:srgbClr val="00A8FF"/>
                </a:solidFill>
                <a:latin typeface="Arial" pitchFamily="34" charset="0"/>
                <a:ea typeface="Arial" pitchFamily="34" charset="-122"/>
                <a:cs typeface="Arial" pitchFamily="34" charset="-120"/>
              </a:rPr>
              <a:t>VÀ KHOẢNG LẶNG</a:t>
            </a:r>
            <a:endParaRPr lang="en-US" sz="3200" dirty="0"/>
          </a:p>
        </p:txBody>
      </p:sp>
      <p:sp>
        <p:nvSpPr>
          <p:cNvPr id="10" name="Text 8"/>
          <p:cNvSpPr/>
          <p:nvPr/>
        </p:nvSpPr>
        <p:spPr>
          <a:xfrm>
            <a:off x="914400" y="2423160"/>
            <a:ext cx="73152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Khảo sát &amp; Đánh giá Thực nghiệm 03 Thuật toán Phân đoạn trên Tín hiệu Thực tế</a:t>
            </a:r>
            <a:endParaRPr lang="en-US" sz="1500" dirty="0"/>
          </a:p>
        </p:txBody>
      </p:sp>
      <p:sp>
        <p:nvSpPr>
          <p:cNvPr id="11" name="Shape 9"/>
          <p:cNvSpPr/>
          <p:nvPr/>
        </p:nvSpPr>
        <p:spPr>
          <a:xfrm>
            <a:off x="914400" y="2880360"/>
            <a:ext cx="7315200" cy="1463040"/>
          </a:xfrm>
          <a:prstGeom prst="roundRect">
            <a:avLst>
              <a:gd name="adj" fmla="val 6250"/>
            </a:avLst>
          </a:prstGeom>
          <a:solidFill>
            <a:srgbClr val="F8FAFC"/>
          </a:solidFill>
          <a:ln w="12700">
            <a:solidFill>
              <a:srgbClr val="CBD5E1"/>
            </a:solidFill>
            <a:prstDash val="solid"/>
          </a:ln>
        </p:spPr>
      </p:sp>
      <p:sp>
        <p:nvSpPr>
          <p:cNvPr id="12" name="Text 10"/>
          <p:cNvSpPr/>
          <p:nvPr/>
        </p:nvSpPr>
        <p:spPr>
          <a:xfrm>
            <a:off x="1097280" y="2971800"/>
            <a:ext cx="6949440" cy="1280160"/>
          </a:xfrm>
          <a:prstGeom prst="rect">
            <a:avLst/>
          </a:prstGeom>
          <a:noFill/>
          <a:ln/>
        </p:spPr>
        <p:txBody>
          <a:bodyPr wrap="square" lIns="0" tIns="0" rIns="0" bIns="0" rtlCol="0" anchor="ctr"/>
          <a:lstStyle/>
          <a:p>
            <a:pPr indent="0" marL="0">
              <a:lnSpc>
                <a:spcPts val="2200"/>
              </a:lnSpc>
              <a:buNone/>
            </a:pPr>
            <a:r>
              <a:rPr lang="en-US" sz="1300" b="1" dirty="0">
                <a:solidFill>
                  <a:srgbClr val="C2410C"/>
                </a:solidFill>
                <a:latin typeface="Arial" pitchFamily="34" charset="0"/>
                <a:ea typeface="Arial" pitchFamily="34" charset="-122"/>
                <a:cs typeface="Arial" pitchFamily="34" charset="-120"/>
              </a:rPr>
              <a:t>• Nhóm Sinh viên: </a:t>
            </a:r>
            <a:pPr indent="0" marL="0">
              <a:lnSpc>
                <a:spcPts val="2200"/>
              </a:lnSpc>
              <a:buNone/>
            </a:pPr>
            <a:r>
              <a:rPr lang="en-US" sz="1300" dirty="0">
                <a:solidFill>
                  <a:srgbClr val="0F172A"/>
                </a:solidFill>
                <a:latin typeface="Arial" pitchFamily="34" charset="0"/>
                <a:ea typeface="Arial" pitchFamily="34" charset="-122"/>
                <a:cs typeface="Arial" pitchFamily="34" charset="-120"/>
              </a:rPr>
              <a:t>Báo cáo thực nghiệm chuyên sâu (3 phút slide + 1 phút demo)
</a:t>
            </a:r>
            <a:pPr indent="0" marL="0">
              <a:lnSpc>
                <a:spcPts val="2200"/>
              </a:lnSpc>
              <a:buNone/>
            </a:pPr>
            <a:r>
              <a:rPr lang="en-US" sz="1300" b="1" dirty="0">
                <a:solidFill>
                  <a:srgbClr val="0284C7"/>
                </a:solidFill>
                <a:latin typeface="Arial" pitchFamily="34" charset="0"/>
                <a:ea typeface="Arial" pitchFamily="34" charset="-122"/>
                <a:cs typeface="Arial" pitchFamily="34" charset="-120"/>
              </a:rPr>
              <a:t>• 03 Thuật toán: </a:t>
            </a:r>
            <a:pPr indent="0" marL="0">
              <a:lnSpc>
                <a:spcPts val="2200"/>
              </a:lnSpc>
              <a:buNone/>
            </a:pPr>
            <a:r>
              <a:rPr lang="en-US" sz="1300" dirty="0">
                <a:solidFill>
                  <a:srgbClr val="0F172A"/>
                </a:solidFill>
                <a:latin typeface="Arial" pitchFamily="34" charset="0"/>
                <a:ea typeface="Arial" pitchFamily="34" charset="-122"/>
                <a:cs typeface="Arial" pitchFamily="34" charset="-120"/>
              </a:rPr>
              <a:t>Tìm kiếm Nhị phân (Hodgkinson), Histogram (Giannakopoulos), Gaussian Bayes
</a:t>
            </a:r>
            <a:pPr indent="0" marL="0">
              <a:lnSpc>
                <a:spcPts val="2200"/>
              </a:lnSpc>
              <a:buNone/>
            </a:pPr>
            <a:r>
              <a:rPr lang="en-US" sz="1300" b="1" dirty="0">
                <a:solidFill>
                  <a:srgbClr val="10B981"/>
                </a:solidFill>
                <a:latin typeface="Arial" pitchFamily="34" charset="0"/>
                <a:ea typeface="Arial" pitchFamily="34" charset="-122"/>
                <a:cs typeface="Arial" pitchFamily="34" charset="-120"/>
              </a:rPr>
              <a:t>• Dữ liệu kiểm thử: </a:t>
            </a:r>
            <a:pPr indent="0" marL="0">
              <a:lnSpc>
                <a:spcPts val="2200"/>
              </a:lnSpc>
              <a:buNone/>
            </a:pPr>
            <a:r>
              <a:rPr lang="en-US" sz="1300" dirty="0">
                <a:solidFill>
                  <a:srgbClr val="0F172A"/>
                </a:solidFill>
                <a:latin typeface="Arial" pitchFamily="34" charset="0"/>
                <a:ea typeface="Arial" pitchFamily="34" charset="-122"/>
                <a:cs typeface="Arial" pitchFamily="34" charset="-120"/>
              </a:rPr>
              <a:t>04 file WAV (phone_F2, phone_M2, studio_F2, studio_M2) &amp; nhãn .lab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2/15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 TỔNG QUAN BÀI TOÁN &amp; THÁCH THỨC</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Đặc tính Tín hiệu Tiếng nói và Yêu cầu Tách Biên Thời gian</a:t>
            </a:r>
            <a:endParaRPr lang="en-US" sz="1400" dirty="0"/>
          </a:p>
        </p:txBody>
      </p:sp>
      <p:sp>
        <p:nvSpPr>
          <p:cNvPr id="8" name="Shape 6"/>
          <p:cNvSpPr/>
          <p:nvPr/>
        </p:nvSpPr>
        <p:spPr>
          <a:xfrm>
            <a:off x="457200" y="1005840"/>
            <a:ext cx="3931920" cy="3566160"/>
          </a:xfrm>
          <a:prstGeom prst="roundRect">
            <a:avLst>
              <a:gd name="adj" fmla="val 2564"/>
            </a:avLst>
          </a:prstGeom>
          <a:solidFill>
            <a:srgbClr val="F8FAFC"/>
          </a:solidFill>
          <a:ln w="19050">
            <a:solidFill>
              <a:srgbClr val="00A8FF"/>
            </a:solidFill>
            <a:prstDash val="solid"/>
          </a:ln>
        </p:spPr>
      </p:sp>
      <p:sp>
        <p:nvSpPr>
          <p:cNvPr id="9" name="Text 7"/>
          <p:cNvSpPr/>
          <p:nvPr/>
        </p:nvSpPr>
        <p:spPr>
          <a:xfrm>
            <a:off x="640080" y="1143000"/>
            <a:ext cx="3566160" cy="320040"/>
          </a:xfrm>
          <a:prstGeom prst="rect">
            <a:avLst/>
          </a:prstGeom>
          <a:noFill/>
          <a:ln/>
        </p:spPr>
        <p:txBody>
          <a:bodyPr wrap="square" rtlCol="0" anchor="ctr"/>
          <a:lstStyle/>
          <a:p>
            <a:pPr indent="0" marL="0">
              <a:buNone/>
            </a:pPr>
            <a:r>
              <a:rPr lang="en-US" sz="1600" b="1" dirty="0">
                <a:solidFill>
                  <a:srgbClr val="0284C7"/>
                </a:solidFill>
                <a:latin typeface="Arial" pitchFamily="34" charset="0"/>
                <a:ea typeface="Arial" pitchFamily="34" charset="-122"/>
                <a:cs typeface="Arial" pitchFamily="34" charset="-120"/>
              </a:rPr>
              <a:t>MỤC TIÊU PHÂN ĐOẠN (VAD)</a:t>
            </a:r>
            <a:endParaRPr lang="en-US" sz="1600" dirty="0"/>
          </a:p>
        </p:txBody>
      </p:sp>
      <p:sp>
        <p:nvSpPr>
          <p:cNvPr id="10" name="Text 8"/>
          <p:cNvSpPr/>
          <p:nvPr/>
        </p:nvSpPr>
        <p:spPr>
          <a:xfrm>
            <a:off x="640080" y="1600200"/>
            <a:ext cx="3566160" cy="274320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 Định vị ranh giới thời gian chính xác
</a:t>
            </a:r>
            <a:pPr indent="0" marL="0">
              <a:buNone/>
            </a:pPr>
            <a:r>
              <a:rPr lang="en-US" sz="1800" dirty="0">
                <a:solidFill>
                  <a:srgbClr val="0F172A"/>
                </a:solidFill>
                <a:latin typeface="Arial" pitchFamily="34" charset="0"/>
                <a:ea typeface="Arial" pitchFamily="34" charset="-122"/>
                <a:cs typeface="Arial" pitchFamily="34" charset="-120"/>
              </a:rPr>
              <a:t>• Phân tách Speech vs Silence trong file audio
</a:t>
            </a:r>
            <a:pPr indent="0" marL="0">
              <a:buNone/>
            </a:pPr>
            <a:r>
              <a:rPr lang="en-US" sz="1800" b="1" dirty="0">
                <a:solidFill>
                  <a:srgbClr val="10B981"/>
                </a:solidFill>
                <a:latin typeface="Arial" pitchFamily="34" charset="0"/>
                <a:ea typeface="Arial" pitchFamily="34" charset="-122"/>
                <a:cs typeface="Arial" pitchFamily="34" charset="-120"/>
              </a:rPr>
              <a:t>• Giảm thiểu sai số MAE &amp; RMSE &lt; 25 ms
</a:t>
            </a:r>
            <a:pPr indent="0" marL="0">
              <a:buNone/>
            </a:pPr>
            <a:r>
              <a:rPr lang="en-US" sz="1800" dirty="0">
                <a:solidFill>
                  <a:srgbClr val="475569"/>
                </a:solidFill>
                <a:latin typeface="Arial" pitchFamily="34" charset="0"/>
                <a:ea typeface="Arial" pitchFamily="34" charset="-122"/>
                <a:cs typeface="Arial" pitchFamily="34" charset="-120"/>
              </a:rPr>
              <a:t>• Bước tiền xử lý cốt lõi cho ASR &amp; Nhận dạng</a:t>
            </a:r>
            <a:endParaRPr lang="en-US" sz="1800" dirty="0"/>
          </a:p>
        </p:txBody>
      </p:sp>
      <p:sp>
        <p:nvSpPr>
          <p:cNvPr id="11" name="Shape 9"/>
          <p:cNvSpPr/>
          <p:nvPr/>
        </p:nvSpPr>
        <p:spPr>
          <a:xfrm>
            <a:off x="4663440" y="1005840"/>
            <a:ext cx="4023360" cy="3566160"/>
          </a:xfrm>
          <a:prstGeom prst="roundRect">
            <a:avLst>
              <a:gd name="adj" fmla="val 2564"/>
            </a:avLst>
          </a:prstGeom>
          <a:solidFill>
            <a:srgbClr val="F8FAFC"/>
          </a:solidFill>
          <a:ln w="19050">
            <a:solidFill>
              <a:srgbClr val="F58220"/>
            </a:solidFill>
            <a:prstDash val="solid"/>
          </a:ln>
        </p:spPr>
      </p:sp>
      <p:sp>
        <p:nvSpPr>
          <p:cNvPr id="12" name="Text 10"/>
          <p:cNvSpPr/>
          <p:nvPr/>
        </p:nvSpPr>
        <p:spPr>
          <a:xfrm>
            <a:off x="4846320" y="1143000"/>
            <a:ext cx="3657600" cy="320040"/>
          </a:xfrm>
          <a:prstGeom prst="rect">
            <a:avLst/>
          </a:prstGeom>
          <a:noFill/>
          <a:ln/>
        </p:spPr>
        <p:txBody>
          <a:bodyPr wrap="square" rtlCol="0" anchor="ctr"/>
          <a:lstStyle/>
          <a:p>
            <a:pPr indent="0" marL="0">
              <a:buNone/>
            </a:pPr>
            <a:r>
              <a:rPr lang="en-US" sz="1600" b="1" dirty="0">
                <a:solidFill>
                  <a:srgbClr val="C2410C"/>
                </a:solidFill>
                <a:latin typeface="Arial" pitchFamily="34" charset="0"/>
                <a:ea typeface="Arial" pitchFamily="34" charset="-122"/>
                <a:cs typeface="Arial" pitchFamily="34" charset="-120"/>
              </a:rPr>
              <a:t>THÁCH THỨC MÔI TRƯỜNG THỰC TẾ</a:t>
            </a:r>
            <a:endParaRPr lang="en-US" sz="1600" dirty="0"/>
          </a:p>
        </p:txBody>
      </p:sp>
      <p:sp>
        <p:nvSpPr>
          <p:cNvPr id="13" name="Text 11"/>
          <p:cNvSpPr/>
          <p:nvPr/>
        </p:nvSpPr>
        <p:spPr>
          <a:xfrm>
            <a:off x="4846320" y="1600200"/>
            <a:ext cx="3657600" cy="2743200"/>
          </a:xfrm>
          <a:prstGeom prst="rect">
            <a:avLst/>
          </a:prstGeom>
          <a:noFill/>
          <a:ln/>
        </p:spPr>
        <p:txBody>
          <a:bodyPr wrap="square" lIns="0" tIns="0" rIns="0" bIns="0" rtlCol="0" anchor="ctr"/>
          <a:lstStyle/>
          <a:p>
            <a:pPr indent="0" marL="0">
              <a:buNone/>
            </a:pPr>
            <a:r>
              <a:rPr lang="en-US" sz="1800" b="1" dirty="0">
                <a:solidFill>
                  <a:srgbClr val="C2410C"/>
                </a:solidFill>
                <a:latin typeface="Arial" pitchFamily="34" charset="0"/>
                <a:ea typeface="Arial" pitchFamily="34" charset="-122"/>
                <a:cs typeface="Arial" pitchFamily="34" charset="-120"/>
              </a:rPr>
              <a:t>• Nhiễu nền điện thoại (SNR thấp 24-27 dB)
</a:t>
            </a:r>
            <a:pPr indent="0" marL="0">
              <a:buNone/>
            </a:pPr>
            <a:r>
              <a:rPr lang="en-US" sz="1800" b="1" dirty="0">
                <a:solidFill>
                  <a:srgbClr val="EF4444"/>
                </a:solidFill>
                <a:latin typeface="Arial" pitchFamily="34" charset="0"/>
                <a:ea typeface="Arial" pitchFamily="34" charset="-122"/>
                <a:cs typeface="Arial" pitchFamily="34" charset="-120"/>
              </a:rPr>
              <a:t>• Âm vô thanh (/s/, /t/, /f/) năng lượng rất thấp
</a:t>
            </a:r>
            <a:pPr indent="0" marL="0">
              <a:buNone/>
            </a:pPr>
            <a:r>
              <a:rPr lang="en-US" sz="1800" dirty="0">
                <a:solidFill>
                  <a:srgbClr val="0F172A"/>
                </a:solidFill>
                <a:latin typeface="Arial" pitchFamily="34" charset="0"/>
                <a:ea typeface="Arial" pitchFamily="34" charset="-122"/>
                <a:cs typeface="Arial" pitchFamily="34" charset="-120"/>
              </a:rPr>
              <a:t>• Dễ nhầm phụ âm yếu thành khoảng lặng
</a:t>
            </a:r>
            <a:pPr indent="0" marL="0">
              <a:buNone/>
            </a:pPr>
            <a:r>
              <a:rPr lang="en-US" sz="1800" b="1" dirty="0">
                <a:solidFill>
                  <a:srgbClr val="0284C7"/>
                </a:solidFill>
                <a:latin typeface="Arial" pitchFamily="34" charset="0"/>
                <a:ea typeface="Arial" pitchFamily="34" charset="-122"/>
                <a:cs typeface="Arial" pitchFamily="34" charset="-120"/>
              </a:rPr>
              <a:t>• Ngưỡng đơn toàn cục cần độ thích nghi cao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3/15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2. QUY TRÌNH XỬ LÝ TÍN HIỆU 5 BƯỚC</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Kiến trúc Pipeline Chuẩn hóa từ Dạng sóng đến Biên phân đoạn</a:t>
            </a:r>
            <a:endParaRPr lang="en-US" sz="1400" dirty="0"/>
          </a:p>
        </p:txBody>
      </p:sp>
      <p:pic>
        <p:nvPicPr>
          <p:cNvPr id="8" name="Image 0" descr="/home/phuqy/Documents/main_gk/assets/presentation/fig_pipeline.png">    </p:cNvPr>
          <p:cNvPicPr>
            <a:picLocks noChangeAspect="1"/>
          </p:cNvPicPr>
          <p:nvPr/>
        </p:nvPicPr>
        <p:blipFill>
          <a:blip r:embed="rId1"/>
          <a:stretch>
            <a:fillRect/>
          </a:stretch>
        </p:blipFill>
        <p:spPr>
          <a:xfrm>
            <a:off x="457200" y="1005840"/>
            <a:ext cx="4846320" cy="3566160"/>
          </a:xfrm>
          <a:prstGeom prst="rect">
            <a:avLst/>
          </a:prstGeom>
        </p:spPr>
      </p:pic>
      <p:sp>
        <p:nvSpPr>
          <p:cNvPr id="9" name="Shape 6"/>
          <p:cNvSpPr/>
          <p:nvPr/>
        </p:nvSpPr>
        <p:spPr>
          <a:xfrm>
            <a:off x="5486400" y="1005840"/>
            <a:ext cx="3200400" cy="3566160"/>
          </a:xfrm>
          <a:prstGeom prst="roundRect">
            <a:avLst>
              <a:gd name="adj" fmla="val 2857"/>
            </a:avLst>
          </a:prstGeom>
          <a:solidFill>
            <a:srgbClr val="F8FAFC"/>
          </a:solidFill>
          <a:ln w="12700">
            <a:solidFill>
              <a:srgbClr val="CBD5E1"/>
            </a:solidFill>
            <a:prstDash val="solid"/>
          </a:ln>
        </p:spPr>
      </p:sp>
      <p:sp>
        <p:nvSpPr>
          <p:cNvPr id="10" name="Text 7"/>
          <p:cNvSpPr/>
          <p:nvPr/>
        </p:nvSpPr>
        <p:spPr>
          <a:xfrm>
            <a:off x="5669280" y="1143000"/>
            <a:ext cx="2834640" cy="320040"/>
          </a:xfrm>
          <a:prstGeom prst="rect">
            <a:avLst/>
          </a:prstGeom>
          <a:noFill/>
          <a:ln/>
        </p:spPr>
        <p:txBody>
          <a:bodyPr wrap="square" rtlCol="0" anchor="ctr"/>
          <a:lstStyle/>
          <a:p>
            <a:pPr indent="0" marL="0">
              <a:buNone/>
            </a:pPr>
            <a:r>
              <a:rPr lang="en-US" sz="1600" b="1" dirty="0">
                <a:solidFill>
                  <a:srgbClr val="F58220"/>
                </a:solidFill>
                <a:latin typeface="Arial" pitchFamily="34" charset="0"/>
                <a:ea typeface="Arial" pitchFamily="34" charset="-122"/>
                <a:cs typeface="Arial" pitchFamily="34" charset="-120"/>
              </a:rPr>
              <a:t>CHI TIẾT THAM SỐ</a:t>
            </a:r>
            <a:endParaRPr lang="en-US" sz="1600" dirty="0"/>
          </a:p>
        </p:txBody>
      </p:sp>
      <p:sp>
        <p:nvSpPr>
          <p:cNvPr id="11" name="Text 8"/>
          <p:cNvSpPr/>
          <p:nvPr/>
        </p:nvSpPr>
        <p:spPr>
          <a:xfrm>
            <a:off x="5669280" y="1600200"/>
            <a:ext cx="2834640" cy="2743200"/>
          </a:xfrm>
          <a:prstGeom prst="rect">
            <a:avLst/>
          </a:prstGeom>
          <a:noFill/>
          <a:ln/>
        </p:spPr>
        <p:txBody>
          <a:bodyPr wrap="square" lIns="0" tIns="0" rIns="0" bIns="0" rtlCol="0" anchor="ctr"/>
          <a:lstStyle/>
          <a:p>
            <a:pPr indent="0" marL="0">
              <a:lnSpc>
                <a:spcPts val="2400"/>
              </a:lnSpc>
              <a:buNone/>
            </a:pPr>
            <a:r>
              <a:rPr lang="en-US" sz="1800" b="1" dirty="0">
                <a:solidFill>
                  <a:srgbClr val="0284C7"/>
                </a:solidFill>
                <a:latin typeface="Arial" pitchFamily="34" charset="0"/>
                <a:ea typeface="Arial" pitchFamily="34" charset="-122"/>
                <a:cs typeface="Arial" pitchFamily="34" charset="-120"/>
              </a:rPr>
              <a:t>1. Chuẩn hóa: </a:t>
            </a:r>
            <a:pPr indent="0" marL="0">
              <a:lnSpc>
                <a:spcPts val="2400"/>
              </a:lnSpc>
              <a:buNone/>
            </a:pPr>
            <a:r>
              <a:rPr lang="en-US" sz="1800" dirty="0">
                <a:solidFill>
                  <a:srgbClr val="0F172A"/>
                </a:solidFill>
                <a:latin typeface="Arial" pitchFamily="34" charset="0"/>
                <a:ea typeface="Arial" pitchFamily="34" charset="-122"/>
                <a:cs typeface="Arial" pitchFamily="34" charset="-120"/>
              </a:rPr>
              <a:t>Scale biên độ [-1, 1]
</a:t>
            </a:r>
            <a:pPr indent="0" marL="0">
              <a:lnSpc>
                <a:spcPts val="2400"/>
              </a:lnSpc>
              <a:buNone/>
            </a:pPr>
            <a:r>
              <a:rPr lang="en-US" sz="1800" b="1" dirty="0">
                <a:solidFill>
                  <a:srgbClr val="0284C7"/>
                </a:solidFill>
                <a:latin typeface="Arial" pitchFamily="34" charset="0"/>
                <a:ea typeface="Arial" pitchFamily="34" charset="-122"/>
                <a:cs typeface="Arial" pitchFamily="34" charset="-120"/>
              </a:rPr>
              <a:t>2. Cửa sổ: </a:t>
            </a:r>
            <a:pPr indent="0" marL="0">
              <a:lnSpc>
                <a:spcPts val="2400"/>
              </a:lnSpc>
              <a:buNone/>
            </a:pPr>
            <a:r>
              <a:rPr lang="en-US" sz="1800" dirty="0">
                <a:solidFill>
                  <a:srgbClr val="0F172A"/>
                </a:solidFill>
                <a:latin typeface="Arial" pitchFamily="34" charset="0"/>
                <a:ea typeface="Arial" pitchFamily="34" charset="-122"/>
                <a:cs typeface="Arial" pitchFamily="34" charset="-120"/>
              </a:rPr>
              <a:t>Hamming 20ms, nhảy 10ms
</a:t>
            </a:r>
            <a:pPr indent="0" marL="0">
              <a:lnSpc>
                <a:spcPts val="2400"/>
              </a:lnSpc>
              <a:buNone/>
            </a:pPr>
            <a:r>
              <a:rPr lang="en-US" sz="1800" b="1" dirty="0">
                <a:solidFill>
                  <a:srgbClr val="0284C7"/>
                </a:solidFill>
                <a:latin typeface="Arial" pitchFamily="34" charset="0"/>
                <a:ea typeface="Arial" pitchFamily="34" charset="-122"/>
                <a:cs typeface="Arial" pitchFamily="34" charset="-120"/>
              </a:rPr>
              <a:t>3. Đặc trưng: </a:t>
            </a:r>
            <a:pPr indent="0" marL="0">
              <a:lnSpc>
                <a:spcPts val="2400"/>
              </a:lnSpc>
              <a:buNone/>
            </a:pPr>
            <a:r>
              <a:rPr lang="en-US" sz="1800" dirty="0">
                <a:solidFill>
                  <a:srgbClr val="0F172A"/>
                </a:solidFill>
                <a:latin typeface="Arial" pitchFamily="34" charset="0"/>
                <a:ea typeface="Arial" pitchFamily="34" charset="-122"/>
                <a:cs typeface="Arial" pitchFamily="34" charset="-120"/>
              </a:rPr>
              <a:t>STE &amp; log(STE)
</a:t>
            </a:r>
            <a:pPr indent="0" marL="0">
              <a:lnSpc>
                <a:spcPts val="2400"/>
              </a:lnSpc>
              <a:buNone/>
            </a:pPr>
            <a:r>
              <a:rPr lang="en-US" sz="1800" b="1" dirty="0">
                <a:solidFill>
                  <a:srgbClr val="0284C7"/>
                </a:solidFill>
                <a:latin typeface="Arial" pitchFamily="34" charset="0"/>
                <a:ea typeface="Arial" pitchFamily="34" charset="-122"/>
                <a:cs typeface="Arial" pitchFamily="34" charset="-120"/>
              </a:rPr>
              <a:t>4. Phân ngưỡng: </a:t>
            </a:r>
            <a:pPr indent="0" marL="0">
              <a:lnSpc>
                <a:spcPts val="2400"/>
              </a:lnSpc>
              <a:buNone/>
            </a:pPr>
            <a:r>
              <a:rPr lang="en-US" sz="1800" dirty="0">
                <a:solidFill>
                  <a:srgbClr val="0F172A"/>
                </a:solidFill>
                <a:latin typeface="Arial" pitchFamily="34" charset="0"/>
                <a:ea typeface="Arial" pitchFamily="34" charset="-122"/>
                <a:cs typeface="Arial" pitchFamily="34" charset="-120"/>
              </a:rPr>
              <a:t>Toàn cục (Global Threshold)
</a:t>
            </a:r>
            <a:pPr indent="0" marL="0">
              <a:lnSpc>
                <a:spcPts val="2400"/>
              </a:lnSpc>
              <a:buNone/>
            </a:pPr>
            <a:r>
              <a:rPr lang="en-US" sz="1800" b="1" dirty="0">
                <a:solidFill>
                  <a:srgbClr val="0284C7"/>
                </a:solidFill>
                <a:latin typeface="Arial" pitchFamily="34" charset="0"/>
                <a:ea typeface="Arial" pitchFamily="34" charset="-122"/>
                <a:cs typeface="Arial" pitchFamily="34" charset="-120"/>
              </a:rPr>
              <a:t>5. Hậu xử lý: </a:t>
            </a:r>
            <a:pPr indent="0" marL="0">
              <a:lnSpc>
                <a:spcPts val="2400"/>
              </a:lnSpc>
              <a:buNone/>
            </a:pPr>
            <a:r>
              <a:rPr lang="en-US" sz="1800" dirty="0">
                <a:solidFill>
                  <a:srgbClr val="0F172A"/>
                </a:solidFill>
                <a:latin typeface="Arial" pitchFamily="34" charset="0"/>
                <a:ea typeface="Arial" pitchFamily="34" charset="-122"/>
                <a:cs typeface="Arial" pitchFamily="34" charset="-120"/>
              </a:rPr>
              <a:t>Lọc nhiễu đoạn &lt; 200ms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4/15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3. ĐẶC TRƯNG NĂNG LƯỢNG: STE VS LOG(STE)</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So sánh Không gian Biểu diễn Tuyến tính và Phi tuyến</a:t>
            </a:r>
            <a:endParaRPr lang="en-US" sz="1400" dirty="0"/>
          </a:p>
        </p:txBody>
      </p:sp>
      <p:pic>
        <p:nvPicPr>
          <p:cNvPr id="8" name="Image 0" descr="/home/phuqy/Documents/main_gk/assets/presentation/fig_ste_vs_logste.png">    </p:cNvPr>
          <p:cNvPicPr>
            <a:picLocks noChangeAspect="1"/>
          </p:cNvPicPr>
          <p:nvPr/>
        </p:nvPicPr>
        <p:blipFill>
          <a:blip r:embed="rId1"/>
          <a:stretch>
            <a:fillRect/>
          </a:stretch>
        </p:blipFill>
        <p:spPr>
          <a:xfrm>
            <a:off x="457200" y="1005840"/>
            <a:ext cx="5486400" cy="3566160"/>
          </a:xfrm>
          <a:prstGeom prst="rect">
            <a:avLst/>
          </a:prstGeom>
        </p:spPr>
      </p:pic>
      <p:sp>
        <p:nvSpPr>
          <p:cNvPr id="9" name="Shape 6"/>
          <p:cNvSpPr/>
          <p:nvPr/>
        </p:nvSpPr>
        <p:spPr>
          <a:xfrm>
            <a:off x="6126480" y="1005840"/>
            <a:ext cx="2560320" cy="3566160"/>
          </a:xfrm>
          <a:prstGeom prst="roundRect">
            <a:avLst>
              <a:gd name="adj" fmla="val 3571"/>
            </a:avLst>
          </a:prstGeom>
          <a:solidFill>
            <a:srgbClr val="F8FAFC"/>
          </a:solidFill>
          <a:ln w="12700">
            <a:solidFill>
              <a:srgbClr val="CBD5E1"/>
            </a:solidFill>
            <a:prstDash val="solid"/>
          </a:ln>
        </p:spPr>
      </p:sp>
      <p:sp>
        <p:nvSpPr>
          <p:cNvPr id="10" name="Text 7"/>
          <p:cNvSpPr/>
          <p:nvPr/>
        </p:nvSpPr>
        <p:spPr>
          <a:xfrm>
            <a:off x="6263640" y="1143000"/>
            <a:ext cx="2286000" cy="320040"/>
          </a:xfrm>
          <a:prstGeom prst="rect">
            <a:avLst/>
          </a:prstGeom>
          <a:noFill/>
          <a:ln/>
        </p:spPr>
        <p:txBody>
          <a:bodyPr wrap="square" rtlCol="0" anchor="ctr"/>
          <a:lstStyle/>
          <a:p>
            <a:pPr indent="0" marL="0">
              <a:buNone/>
            </a:pPr>
            <a:r>
              <a:rPr lang="en-US" sz="1500" b="1" dirty="0">
                <a:solidFill>
                  <a:srgbClr val="F58220"/>
                </a:solidFill>
                <a:latin typeface="Arial" pitchFamily="34" charset="0"/>
                <a:ea typeface="Arial" pitchFamily="34" charset="-122"/>
                <a:cs typeface="Arial" pitchFamily="34" charset="-120"/>
              </a:rPr>
              <a:t>ƯU THẾ CỦA LOG(STE)</a:t>
            </a:r>
            <a:endParaRPr lang="en-US" sz="1500" dirty="0"/>
          </a:p>
        </p:txBody>
      </p:sp>
      <p:sp>
        <p:nvSpPr>
          <p:cNvPr id="11" name="Text 8"/>
          <p:cNvSpPr/>
          <p:nvPr/>
        </p:nvSpPr>
        <p:spPr>
          <a:xfrm>
            <a:off x="6263640" y="1554480"/>
            <a:ext cx="2286000" cy="2834640"/>
          </a:xfrm>
          <a:prstGeom prst="rect">
            <a:avLst/>
          </a:prstGeom>
          <a:noFill/>
          <a:ln/>
        </p:spPr>
        <p:txBody>
          <a:bodyPr wrap="square" lIns="0" tIns="0" rIns="0" bIns="0" rtlCol="0" anchor="ctr"/>
          <a:lstStyle/>
          <a:p>
            <a:pPr indent="0" marL="0">
              <a:buNone/>
            </a:pPr>
            <a:r>
              <a:rPr lang="en-US" sz="1800" b="1" dirty="0">
                <a:solidFill>
                  <a:srgbClr val="0284C7"/>
                </a:solidFill>
                <a:latin typeface="Arial" pitchFamily="34" charset="0"/>
                <a:ea typeface="Arial" pitchFamily="34" charset="-122"/>
                <a:cs typeface="Arial" pitchFamily="34" charset="-120"/>
              </a:rPr>
              <a:t>• STE tuyến tính:
</a:t>
            </a:r>
            <a:pPr indent="0" marL="0">
              <a:buNone/>
            </a:pPr>
            <a:r>
              <a:rPr lang="en-US" sz="1800" dirty="0">
                <a:solidFill>
                  <a:srgbClr val="0F172A"/>
                </a:solidFill>
                <a:latin typeface="Arial" pitchFamily="34" charset="0"/>
                <a:ea typeface="Arial" pitchFamily="34" charset="-122"/>
                <a:cs typeface="Arial" pitchFamily="34" charset="-120"/>
              </a:rPr>
              <a:t>Dải động lệch mạnh về 0.
</a:t>
            </a:r>
            <a:pPr indent="0" marL="0">
              <a:buNone/>
            </a:pPr>
            <a:r>
              <a:rPr lang="en-US" sz="1800" b="1" dirty="0">
                <a:solidFill>
                  <a:srgbClr val="C2410C"/>
                </a:solidFill>
                <a:latin typeface="Arial" pitchFamily="34" charset="0"/>
                <a:ea typeface="Arial" pitchFamily="34" charset="-122"/>
                <a:cs typeface="Arial" pitchFamily="34" charset="-120"/>
              </a:rPr>
              <a:t>• log(STE) phi tuyến:
</a:t>
            </a:r>
            <a:pPr indent="0" marL="0">
              <a:buNone/>
            </a:pPr>
            <a:r>
              <a:rPr lang="en-US" sz="1800" dirty="0">
                <a:solidFill>
                  <a:srgbClr val="0F172A"/>
                </a:solidFill>
                <a:latin typeface="Arial" pitchFamily="34" charset="0"/>
                <a:ea typeface="Arial" pitchFamily="34" charset="-122"/>
                <a:cs typeface="Arial" pitchFamily="34" charset="-120"/>
              </a:rPr>
              <a:t>Kéo dãn phân bố im lặng.
</a:t>
            </a:r>
            <a:pPr indent="0" marL="0">
              <a:buNone/>
            </a:pPr>
            <a:r>
              <a:rPr lang="en-US" sz="1800" b="1" dirty="0">
                <a:solidFill>
                  <a:srgbClr val="10B981"/>
                </a:solidFill>
                <a:latin typeface="Arial" pitchFamily="34" charset="0"/>
                <a:ea typeface="Arial" pitchFamily="34" charset="-122"/>
                <a:cs typeface="Arial" pitchFamily="34" charset="-120"/>
              </a:rPr>
              <a:t>• Tách rõ 2 đỉnh:
</a:t>
            </a:r>
            <a:pPr indent="0" marL="0">
              <a:buNone/>
            </a:pPr>
            <a:r>
              <a:rPr lang="en-US" sz="1800" dirty="0">
                <a:solidFill>
                  <a:srgbClr val="0F172A"/>
                </a:solidFill>
                <a:latin typeface="Arial" pitchFamily="34" charset="0"/>
                <a:ea typeface="Arial" pitchFamily="34" charset="-122"/>
                <a:cs typeface="Arial" pitchFamily="34" charset="-120"/>
              </a:rPr>
              <a:t>Tạo thung lũng rõ ràng để đặt ngưỡng.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5/15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4. THUẬT TOÁN 1: TÌM KIẾM NHỊ PHÂN (TT1)</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Tối ưu hóa Sai số Biên thời gian bằng Phân đôi Không gian Ngưỡng</a:t>
            </a:r>
            <a:endParaRPr lang="en-US" sz="1400" dirty="0"/>
          </a:p>
        </p:txBody>
      </p:sp>
      <p:pic>
        <p:nvPicPr>
          <p:cNvPr id="8" name="Image 0" descr="/home/phuqy/Documents/main_gk/assets/presentation/fig_tt1_binary_flow.png">    </p:cNvPr>
          <p:cNvPicPr>
            <a:picLocks noChangeAspect="1"/>
          </p:cNvPicPr>
          <p:nvPr/>
        </p:nvPicPr>
        <p:blipFill>
          <a:blip r:embed="rId1"/>
          <a:stretch>
            <a:fillRect/>
          </a:stretch>
        </p:blipFill>
        <p:spPr>
          <a:xfrm>
            <a:off x="457200" y="1005840"/>
            <a:ext cx="5120640" cy="3566160"/>
          </a:xfrm>
          <a:prstGeom prst="rect">
            <a:avLst/>
          </a:prstGeom>
        </p:spPr>
      </p:pic>
      <p:sp>
        <p:nvSpPr>
          <p:cNvPr id="9" name="Shape 6"/>
          <p:cNvSpPr/>
          <p:nvPr/>
        </p:nvSpPr>
        <p:spPr>
          <a:xfrm>
            <a:off x="5760720" y="1005840"/>
            <a:ext cx="2926080" cy="3566160"/>
          </a:xfrm>
          <a:prstGeom prst="roundRect">
            <a:avLst>
              <a:gd name="adj" fmla="val 3125"/>
            </a:avLst>
          </a:prstGeom>
          <a:solidFill>
            <a:srgbClr val="F8FAFC"/>
          </a:solidFill>
          <a:ln w="19050">
            <a:solidFill>
              <a:srgbClr val="00A8FF"/>
            </a:solidFill>
            <a:prstDash val="solid"/>
          </a:ln>
        </p:spPr>
      </p:sp>
      <p:sp>
        <p:nvSpPr>
          <p:cNvPr id="10" name="Text 7"/>
          <p:cNvSpPr/>
          <p:nvPr/>
        </p:nvSpPr>
        <p:spPr>
          <a:xfrm>
            <a:off x="5943600" y="1143000"/>
            <a:ext cx="2560320" cy="320040"/>
          </a:xfrm>
          <a:prstGeom prst="rect">
            <a:avLst/>
          </a:prstGeom>
          <a:noFill/>
          <a:ln/>
        </p:spPr>
        <p:txBody>
          <a:bodyPr wrap="square" rtlCol="0" anchor="ctr"/>
          <a:lstStyle/>
          <a:p>
            <a:pPr indent="0" marL="0">
              <a:buNone/>
            </a:pPr>
            <a:r>
              <a:rPr lang="en-US" sz="1600" b="1" dirty="0">
                <a:solidFill>
                  <a:srgbClr val="0284C7"/>
                </a:solidFill>
                <a:latin typeface="Arial" pitchFamily="34" charset="0"/>
                <a:ea typeface="Arial" pitchFamily="34" charset="-122"/>
                <a:cs typeface="Arial" pitchFamily="34" charset="-120"/>
              </a:rPr>
              <a:t>KẾT QUẢ HUẤN LUYỆN</a:t>
            </a:r>
            <a:endParaRPr lang="en-US" sz="1600" dirty="0"/>
          </a:p>
        </p:txBody>
      </p:sp>
      <p:sp>
        <p:nvSpPr>
          <p:cNvPr id="11" name="Text 8"/>
          <p:cNvSpPr/>
          <p:nvPr/>
        </p:nvSpPr>
        <p:spPr>
          <a:xfrm>
            <a:off x="5943600" y="1600200"/>
            <a:ext cx="2560320" cy="2743200"/>
          </a:xfrm>
          <a:prstGeom prst="rect">
            <a:avLst/>
          </a:prstGeom>
          <a:noFill/>
          <a:ln/>
        </p:spPr>
        <p:txBody>
          <a:bodyPr wrap="square" lIns="0" tIns="0" rIns="0" bIns="0" rtlCol="0" anchor="ctr"/>
          <a:lstStyle/>
          <a:p>
            <a:pPr indent="0" marL="0">
              <a:lnSpc>
                <a:spcPts val="2400"/>
              </a:lnSpc>
              <a:buNone/>
            </a:pPr>
            <a:r>
              <a:rPr lang="en-US" sz="1800" b="1" dirty="0">
                <a:solidFill>
                  <a:srgbClr val="0F172A"/>
                </a:solidFill>
                <a:latin typeface="Arial" pitchFamily="34" charset="0"/>
                <a:ea typeface="Arial" pitchFamily="34" charset="-122"/>
                <a:cs typeface="Arial" pitchFamily="34" charset="-120"/>
              </a:rPr>
              <a:t>• Khoảng tìm kiếm: </a:t>
            </a:r>
            <a:pPr indent="0" marL="0">
              <a:lnSpc>
                <a:spcPts val="2400"/>
              </a:lnSpc>
              <a:buNone/>
            </a:pPr>
            <a:r>
              <a:rPr lang="en-US" sz="1800" dirty="0">
                <a:solidFill>
                  <a:srgbClr val="0F172A"/>
                </a:solidFill>
                <a:latin typeface="Arial" pitchFamily="34" charset="0"/>
                <a:ea typeface="Arial" pitchFamily="34" charset="-122"/>
                <a:cs typeface="Arial" pitchFamily="34" charset="-120"/>
              </a:rPr>
              <a:t>[0.0, 1.0]
</a:t>
            </a:r>
            <a:pPr indent="0" marL="0">
              <a:lnSpc>
                <a:spcPts val="2400"/>
              </a:lnSpc>
              <a:buNone/>
            </a:pPr>
            <a:r>
              <a:rPr lang="en-US" sz="1800" b="1" dirty="0">
                <a:solidFill>
                  <a:srgbClr val="0F172A"/>
                </a:solidFill>
                <a:latin typeface="Arial" pitchFamily="34" charset="0"/>
                <a:ea typeface="Arial" pitchFamily="34" charset="-122"/>
                <a:cs typeface="Arial" pitchFamily="34" charset="-120"/>
              </a:rPr>
              <a:t>• Số vòng lặp: </a:t>
            </a:r>
            <a:pPr indent="0" marL="0">
              <a:lnSpc>
                <a:spcPts val="2400"/>
              </a:lnSpc>
              <a:buNone/>
            </a:pPr>
            <a:r>
              <a:rPr lang="en-US" sz="1800" dirty="0">
                <a:solidFill>
                  <a:srgbClr val="0F172A"/>
                </a:solidFill>
                <a:latin typeface="Arial" pitchFamily="34" charset="0"/>
                <a:ea typeface="Arial" pitchFamily="34" charset="-122"/>
                <a:cs typeface="Arial" pitchFamily="34" charset="-120"/>
              </a:rPr>
              <a:t>12 bước
</a:t>
            </a:r>
            <a:pPr indent="0" marL="0">
              <a:lnSpc>
                <a:spcPts val="2400"/>
              </a:lnSpc>
              <a:buNone/>
            </a:pPr>
            <a:r>
              <a:rPr lang="en-US" sz="1800" b="1" dirty="0">
                <a:solidFill>
                  <a:srgbClr val="0F172A"/>
                </a:solidFill>
                <a:latin typeface="Arial" pitchFamily="34" charset="0"/>
                <a:ea typeface="Arial" pitchFamily="34" charset="-122"/>
                <a:cs typeface="Arial" pitchFamily="34" charset="-120"/>
              </a:rPr>
              <a:t>• Độ mịn ngưỡng: </a:t>
            </a:r>
            <a:pPr indent="0" marL="0">
              <a:lnSpc>
                <a:spcPts val="2400"/>
              </a:lnSpc>
              <a:buNone/>
            </a:pPr>
            <a:r>
              <a:rPr lang="en-US" sz="1800" dirty="0">
                <a:solidFill>
                  <a:srgbClr val="0F172A"/>
                </a:solidFill>
                <a:latin typeface="Arial" pitchFamily="34" charset="0"/>
                <a:ea typeface="Arial" pitchFamily="34" charset="-122"/>
                <a:cs typeface="Arial" pitchFamily="34" charset="-120"/>
              </a:rPr>
              <a:t>1/2^12 ≈ 0.00024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 Ngưỡng tối ưu: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T = 0.000798
</a:t>
            </a:r>
            <a:pPr indent="0" marL="0">
              <a:lnSpc>
                <a:spcPts val="2400"/>
              </a:lnSpc>
              <a:buNone/>
            </a:pPr>
            <a:r>
              <a:rPr lang="en-US" sz="1800" b="1" dirty="0">
                <a:solidFill>
                  <a:srgbClr val="10B981"/>
                </a:solidFill>
                <a:latin typeface="Arial" pitchFamily="34" charset="0"/>
                <a:ea typeface="Arial" pitchFamily="34" charset="-122"/>
                <a:cs typeface="Arial" pitchFamily="34" charset="-120"/>
              </a:rPr>
              <a:t>• Hàm mất mát: </a:t>
            </a:r>
            <a:pPr indent="0" marL="0">
              <a:lnSpc>
                <a:spcPts val="2400"/>
              </a:lnSpc>
              <a:buNone/>
            </a:pPr>
            <a:r>
              <a:rPr lang="en-US" sz="1800" dirty="0">
                <a:solidFill>
                  <a:srgbClr val="0F172A"/>
                </a:solidFill>
                <a:latin typeface="Arial" pitchFamily="34" charset="0"/>
                <a:ea typeface="Arial" pitchFamily="34" charset="-122"/>
                <a:cs typeface="Arial" pitchFamily="34" charset="-120"/>
              </a:rPr>
              <a:t>Tổng sai số khung nhỏ nhất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6/15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5. THUẬT TOÁN 2: PHÂN TÍCH HISTOGRAM (TT2)</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Xác định Đáy Thung lũng giữa 2 Đỉnh Cực đại Năng lượng Phi tuyến</a:t>
            </a:r>
            <a:endParaRPr lang="en-US" sz="1400" dirty="0"/>
          </a:p>
        </p:txBody>
      </p:sp>
      <p:pic>
        <p:nvPicPr>
          <p:cNvPr id="8" name="Image 0" descr="/home/phuqy/Documents/main_gk/assets/presentation/fig_tt2_histogram_flow.png">    </p:cNvPr>
          <p:cNvPicPr>
            <a:picLocks noChangeAspect="1"/>
          </p:cNvPicPr>
          <p:nvPr/>
        </p:nvPicPr>
        <p:blipFill>
          <a:blip r:embed="rId1"/>
          <a:stretch>
            <a:fillRect/>
          </a:stretch>
        </p:blipFill>
        <p:spPr>
          <a:xfrm>
            <a:off x="457200" y="1005840"/>
            <a:ext cx="5120640" cy="3566160"/>
          </a:xfrm>
          <a:prstGeom prst="rect">
            <a:avLst/>
          </a:prstGeom>
        </p:spPr>
      </p:pic>
      <p:sp>
        <p:nvSpPr>
          <p:cNvPr id="9" name="Shape 6"/>
          <p:cNvSpPr/>
          <p:nvPr/>
        </p:nvSpPr>
        <p:spPr>
          <a:xfrm>
            <a:off x="5760720" y="1005840"/>
            <a:ext cx="2926080" cy="3566160"/>
          </a:xfrm>
          <a:prstGeom prst="roundRect">
            <a:avLst>
              <a:gd name="adj" fmla="val 3125"/>
            </a:avLst>
          </a:prstGeom>
          <a:solidFill>
            <a:srgbClr val="F8FAFC"/>
          </a:solidFill>
          <a:ln w="19050">
            <a:solidFill>
              <a:srgbClr val="F58220"/>
            </a:solidFill>
            <a:prstDash val="solid"/>
          </a:ln>
        </p:spPr>
      </p:sp>
      <p:sp>
        <p:nvSpPr>
          <p:cNvPr id="10" name="Text 7"/>
          <p:cNvSpPr/>
          <p:nvPr/>
        </p:nvSpPr>
        <p:spPr>
          <a:xfrm>
            <a:off x="5943600" y="1143000"/>
            <a:ext cx="2560320" cy="320040"/>
          </a:xfrm>
          <a:prstGeom prst="rect">
            <a:avLst/>
          </a:prstGeom>
          <a:noFill/>
          <a:ln/>
        </p:spPr>
        <p:txBody>
          <a:bodyPr wrap="square" rtlCol="0" anchor="ctr"/>
          <a:lstStyle/>
          <a:p>
            <a:pPr indent="0" marL="0">
              <a:buNone/>
            </a:pPr>
            <a:r>
              <a:rPr lang="en-US" sz="1600" b="1" dirty="0">
                <a:solidFill>
                  <a:srgbClr val="C2410C"/>
                </a:solidFill>
                <a:latin typeface="Arial" pitchFamily="34" charset="0"/>
                <a:ea typeface="Arial" pitchFamily="34" charset="-122"/>
                <a:cs typeface="Arial" pitchFamily="34" charset="-120"/>
              </a:rPr>
              <a:t>KẾT QUẢ HUẤN LUYỆN</a:t>
            </a:r>
            <a:endParaRPr lang="en-US" sz="1600" dirty="0"/>
          </a:p>
        </p:txBody>
      </p:sp>
      <p:sp>
        <p:nvSpPr>
          <p:cNvPr id="11" name="Text 8"/>
          <p:cNvSpPr/>
          <p:nvPr/>
        </p:nvSpPr>
        <p:spPr>
          <a:xfrm>
            <a:off x="5943600" y="1600200"/>
            <a:ext cx="2560320" cy="2743200"/>
          </a:xfrm>
          <a:prstGeom prst="rect">
            <a:avLst/>
          </a:prstGeom>
          <a:noFill/>
          <a:ln/>
        </p:spPr>
        <p:txBody>
          <a:bodyPr wrap="square" lIns="0" tIns="0" rIns="0" bIns="0" rtlCol="0" anchor="ctr"/>
          <a:lstStyle/>
          <a:p>
            <a:pPr indent="0" marL="0">
              <a:lnSpc>
                <a:spcPts val="2400"/>
              </a:lnSpc>
              <a:buNone/>
            </a:pPr>
            <a:r>
              <a:rPr lang="en-US" sz="1800" b="1" dirty="0">
                <a:solidFill>
                  <a:srgbClr val="0F172A"/>
                </a:solidFill>
                <a:latin typeface="Arial" pitchFamily="34" charset="0"/>
                <a:ea typeface="Arial" pitchFamily="34" charset="-122"/>
                <a:cs typeface="Arial" pitchFamily="34" charset="-120"/>
              </a:rPr>
              <a:t>• Không gian: </a:t>
            </a:r>
            <a:pPr indent="0" marL="0">
              <a:lnSpc>
                <a:spcPts val="2400"/>
              </a:lnSpc>
              <a:buNone/>
            </a:pPr>
            <a:r>
              <a:rPr lang="en-US" sz="1800" dirty="0">
                <a:solidFill>
                  <a:srgbClr val="0F172A"/>
                </a:solidFill>
                <a:latin typeface="Arial" pitchFamily="34" charset="0"/>
                <a:ea typeface="Arial" pitchFamily="34" charset="-122"/>
                <a:cs typeface="Arial" pitchFamily="34" charset="-120"/>
              </a:rPr>
              <a:t>log(STE)
</a:t>
            </a:r>
            <a:pPr indent="0" marL="0">
              <a:lnSpc>
                <a:spcPts val="2400"/>
              </a:lnSpc>
              <a:buNone/>
            </a:pPr>
            <a:r>
              <a:rPr lang="en-US" sz="1800" b="1" dirty="0">
                <a:solidFill>
                  <a:srgbClr val="0F172A"/>
                </a:solidFill>
                <a:latin typeface="Arial" pitchFamily="34" charset="0"/>
                <a:ea typeface="Arial" pitchFamily="34" charset="-122"/>
                <a:cs typeface="Arial" pitchFamily="34" charset="-120"/>
              </a:rPr>
              <a:t>• Số bins: </a:t>
            </a:r>
            <a:pPr indent="0" marL="0">
              <a:lnSpc>
                <a:spcPts val="2400"/>
              </a:lnSpc>
              <a:buNone/>
            </a:pPr>
            <a:r>
              <a:rPr lang="en-US" sz="1800" dirty="0">
                <a:solidFill>
                  <a:srgbClr val="0F172A"/>
                </a:solidFill>
                <a:latin typeface="Arial" pitchFamily="34" charset="0"/>
                <a:ea typeface="Arial" pitchFamily="34" charset="-122"/>
                <a:cs typeface="Arial" pitchFamily="34" charset="-120"/>
              </a:rPr>
              <a:t>Histogram đa mức
</a:t>
            </a:r>
            <a:pPr indent="0" marL="0">
              <a:lnSpc>
                <a:spcPts val="2400"/>
              </a:lnSpc>
              <a:buNone/>
            </a:pPr>
            <a:r>
              <a:rPr lang="en-US" sz="1800" b="1" dirty="0">
                <a:solidFill>
                  <a:srgbClr val="0F172A"/>
                </a:solidFill>
                <a:latin typeface="Arial" pitchFamily="34" charset="0"/>
                <a:ea typeface="Arial" pitchFamily="34" charset="-122"/>
                <a:cs typeface="Arial" pitchFamily="34" charset="-120"/>
              </a:rPr>
              <a:t>• Trọng số lệch: </a:t>
            </a:r>
            <a:pPr indent="0" marL="0">
              <a:lnSpc>
                <a:spcPts val="2400"/>
              </a:lnSpc>
              <a:buNone/>
            </a:pPr>
            <a:r>
              <a:rPr lang="en-US" sz="1800" dirty="0">
                <a:solidFill>
                  <a:srgbClr val="0F172A"/>
                </a:solidFill>
                <a:latin typeface="Arial" pitchFamily="34" charset="0"/>
                <a:ea typeface="Arial" pitchFamily="34" charset="-122"/>
                <a:cs typeface="Arial" pitchFamily="34" charset="-120"/>
              </a:rPr>
              <a:t>W = 2.0 (nghiêng về silence)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 Ngưỡng tối ưu: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T = -2.4375
</a:t>
            </a:r>
            <a:pPr indent="0" marL="0">
              <a:lnSpc>
                <a:spcPts val="2400"/>
              </a:lnSpc>
              <a:buNone/>
            </a:pPr>
            <a:r>
              <a:rPr lang="en-US" sz="1800" b="1" dirty="0">
                <a:solidFill>
                  <a:srgbClr val="10B981"/>
                </a:solidFill>
                <a:latin typeface="Arial" pitchFamily="34" charset="0"/>
                <a:ea typeface="Arial" pitchFamily="34" charset="-122"/>
                <a:cs typeface="Arial" pitchFamily="34" charset="-120"/>
              </a:rPr>
              <a:t>• Kháng nhiễu: </a:t>
            </a:r>
            <a:pPr indent="0" marL="0">
              <a:lnSpc>
                <a:spcPts val="2400"/>
              </a:lnSpc>
              <a:buNone/>
            </a:pPr>
            <a:r>
              <a:rPr lang="en-US" sz="1800" dirty="0">
                <a:solidFill>
                  <a:srgbClr val="0F172A"/>
                </a:solidFill>
                <a:latin typeface="Arial" pitchFamily="34" charset="0"/>
                <a:ea typeface="Arial" pitchFamily="34" charset="-122"/>
                <a:cs typeface="Arial" pitchFamily="34" charset="-120"/>
              </a:rPr>
              <a:t>Tối ưu nhất cho môi trường Phone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7/15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6. THUẬT TOÁN 3: PHÂN PHỐI GAUSS BAYES (TT3)</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Phân loại Thống kê Mô hình hóa Hàm Mật độ Xác suất (PDF)</a:t>
            </a:r>
            <a:endParaRPr lang="en-US" sz="1400" dirty="0"/>
          </a:p>
        </p:txBody>
      </p:sp>
      <p:pic>
        <p:nvPicPr>
          <p:cNvPr id="8" name="Image 0" descr="/home/phuqy/Documents/main_gk/assets/presentation/fig_tt3_gaussian_flow.png">    </p:cNvPr>
          <p:cNvPicPr>
            <a:picLocks noChangeAspect="1"/>
          </p:cNvPicPr>
          <p:nvPr/>
        </p:nvPicPr>
        <p:blipFill>
          <a:blip r:embed="rId1"/>
          <a:stretch>
            <a:fillRect/>
          </a:stretch>
        </p:blipFill>
        <p:spPr>
          <a:xfrm>
            <a:off x="457200" y="1005840"/>
            <a:ext cx="5120640" cy="3566160"/>
          </a:xfrm>
          <a:prstGeom prst="rect">
            <a:avLst/>
          </a:prstGeom>
        </p:spPr>
      </p:pic>
      <p:sp>
        <p:nvSpPr>
          <p:cNvPr id="9" name="Shape 6"/>
          <p:cNvSpPr/>
          <p:nvPr/>
        </p:nvSpPr>
        <p:spPr>
          <a:xfrm>
            <a:off x="5760720" y="1005840"/>
            <a:ext cx="2926080" cy="3566160"/>
          </a:xfrm>
          <a:prstGeom prst="roundRect">
            <a:avLst>
              <a:gd name="adj" fmla="val 3125"/>
            </a:avLst>
          </a:prstGeom>
          <a:solidFill>
            <a:srgbClr val="F8FAFC"/>
          </a:solidFill>
          <a:ln w="19050">
            <a:solidFill>
              <a:srgbClr val="10B981"/>
            </a:solidFill>
            <a:prstDash val="solid"/>
          </a:ln>
        </p:spPr>
      </p:sp>
      <p:sp>
        <p:nvSpPr>
          <p:cNvPr id="10" name="Text 7"/>
          <p:cNvSpPr/>
          <p:nvPr/>
        </p:nvSpPr>
        <p:spPr>
          <a:xfrm>
            <a:off x="5943600" y="1143000"/>
            <a:ext cx="2560320" cy="32004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KẾT QUẢ HUẤN LUYỆN</a:t>
            </a:r>
            <a:endParaRPr lang="en-US" sz="1600" dirty="0"/>
          </a:p>
        </p:txBody>
      </p:sp>
      <p:sp>
        <p:nvSpPr>
          <p:cNvPr id="11" name="Text 8"/>
          <p:cNvSpPr/>
          <p:nvPr/>
        </p:nvSpPr>
        <p:spPr>
          <a:xfrm>
            <a:off x="5943600" y="1600200"/>
            <a:ext cx="2560320" cy="2743200"/>
          </a:xfrm>
          <a:prstGeom prst="rect">
            <a:avLst/>
          </a:prstGeom>
          <a:noFill/>
          <a:ln/>
        </p:spPr>
        <p:txBody>
          <a:bodyPr wrap="square" lIns="0" tIns="0" rIns="0" bIns="0" rtlCol="0" anchor="ctr"/>
          <a:lstStyle/>
          <a:p>
            <a:pPr indent="0" marL="0">
              <a:lnSpc>
                <a:spcPts val="2400"/>
              </a:lnSpc>
              <a:buNone/>
            </a:pPr>
            <a:r>
              <a:rPr lang="en-US" sz="1800" b="1" dirty="0">
                <a:solidFill>
                  <a:srgbClr val="0F172A"/>
                </a:solidFill>
                <a:latin typeface="Arial" pitchFamily="34" charset="0"/>
                <a:ea typeface="Arial" pitchFamily="34" charset="-122"/>
                <a:cs typeface="Arial" pitchFamily="34" charset="-120"/>
              </a:rPr>
              <a:t>• Silence: </a:t>
            </a:r>
            <a:pPr indent="0" marL="0">
              <a:lnSpc>
                <a:spcPts val="2400"/>
              </a:lnSpc>
              <a:buNone/>
            </a:pPr>
            <a:r>
              <a:rPr lang="en-US" sz="1800" dirty="0">
                <a:solidFill>
                  <a:srgbClr val="0F172A"/>
                </a:solidFill>
                <a:latin typeface="Arial" pitchFamily="34" charset="0"/>
                <a:ea typeface="Arial" pitchFamily="34" charset="-122"/>
                <a:cs typeface="Arial" pitchFamily="34" charset="-120"/>
              </a:rPr>
              <a:t>mu=0.00025, sigma=0.00063
</a:t>
            </a:r>
            <a:pPr indent="0" marL="0">
              <a:lnSpc>
                <a:spcPts val="2400"/>
              </a:lnSpc>
              <a:buNone/>
            </a:pPr>
            <a:r>
              <a:rPr lang="en-US" sz="1800" b="1" dirty="0">
                <a:solidFill>
                  <a:srgbClr val="0F172A"/>
                </a:solidFill>
                <a:latin typeface="Arial" pitchFamily="34" charset="0"/>
                <a:ea typeface="Arial" pitchFamily="34" charset="-122"/>
                <a:cs typeface="Arial" pitchFamily="34" charset="-120"/>
              </a:rPr>
              <a:t>• Speech: </a:t>
            </a:r>
            <a:pPr indent="0" marL="0">
              <a:lnSpc>
                <a:spcPts val="2400"/>
              </a:lnSpc>
              <a:buNone/>
            </a:pPr>
            <a:r>
              <a:rPr lang="en-US" sz="1800" dirty="0">
                <a:solidFill>
                  <a:srgbClr val="0F172A"/>
                </a:solidFill>
                <a:latin typeface="Arial" pitchFamily="34" charset="0"/>
                <a:ea typeface="Arial" pitchFamily="34" charset="-122"/>
                <a:cs typeface="Arial" pitchFamily="34" charset="-120"/>
              </a:rPr>
              <a:t>mu=0.20247, sigma=0.23569
</a:t>
            </a:r>
            <a:pPr indent="0" marL="0">
              <a:lnSpc>
                <a:spcPts val="2400"/>
              </a:lnSpc>
              <a:buNone/>
            </a:pPr>
            <a:r>
              <a:rPr lang="en-US" sz="1800" b="1" dirty="0">
                <a:solidFill>
                  <a:srgbClr val="0284C7"/>
                </a:solidFill>
                <a:latin typeface="Arial" pitchFamily="34" charset="0"/>
                <a:ea typeface="Arial" pitchFamily="34" charset="-122"/>
                <a:cs typeface="Arial" pitchFamily="34" charset="-120"/>
              </a:rPr>
              <a:t>• Chuẩn Bayes: </a:t>
            </a:r>
            <a:pPr indent="0" marL="0">
              <a:lnSpc>
                <a:spcPts val="2400"/>
              </a:lnSpc>
              <a:buNone/>
            </a:pPr>
            <a:r>
              <a:rPr lang="en-US" sz="1800" dirty="0">
                <a:solidFill>
                  <a:srgbClr val="0F172A"/>
                </a:solidFill>
                <a:latin typeface="Arial" pitchFamily="34" charset="0"/>
                <a:ea typeface="Arial" pitchFamily="34" charset="-122"/>
                <a:cs typeface="Arial" pitchFamily="34" charset="-120"/>
              </a:rPr>
              <a:t>Điểm giao xác suất 2 lớp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 Ngưỡng tối ưu: </a:t>
            </a:r>
            <a:pPr indent="0" marL="0">
              <a:lnSpc>
                <a:spcPts val="2400"/>
              </a:lnSpc>
              <a:buNone/>
            </a:pPr>
            <a:r>
              <a:rPr lang="en-US" sz="1800" b="1" dirty="0">
                <a:solidFill>
                  <a:srgbClr val="C2410C"/>
                </a:solidFill>
                <a:latin typeface="Arial" pitchFamily="34" charset="0"/>
                <a:ea typeface="Arial" pitchFamily="34" charset="-122"/>
                <a:cs typeface="Arial" pitchFamily="34" charset="-120"/>
              </a:rPr>
              <a:t>T = 0.000792
</a:t>
            </a:r>
            <a:pPr indent="0" marL="0">
              <a:lnSpc>
                <a:spcPts val="2400"/>
              </a:lnSpc>
              <a:buNone/>
            </a:pPr>
            <a:r>
              <a:rPr lang="en-US" sz="1800" b="1" dirty="0">
                <a:solidFill>
                  <a:srgbClr val="10B981"/>
                </a:solidFill>
                <a:latin typeface="Arial" pitchFamily="34" charset="0"/>
                <a:ea typeface="Arial" pitchFamily="34" charset="-122"/>
                <a:cs typeface="Arial" pitchFamily="34" charset="-120"/>
              </a:rPr>
              <a:t>• Tương đồng TT1: </a:t>
            </a:r>
            <a:pPr indent="0" marL="0">
              <a:lnSpc>
                <a:spcPts val="2400"/>
              </a:lnSpc>
              <a:buNone/>
            </a:pPr>
            <a:r>
              <a:rPr lang="en-US" sz="1800" dirty="0">
                <a:solidFill>
                  <a:srgbClr val="0F172A"/>
                </a:solidFill>
                <a:latin typeface="Arial" pitchFamily="34" charset="0"/>
                <a:ea typeface="Arial" pitchFamily="34" charset="-122"/>
                <a:cs typeface="Arial" pitchFamily="34" charset="-120"/>
              </a:rPr>
              <a:t>Hội tụ về cùng mức năng lượng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8/15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7. TỔNG HỢP NGƯỠNG TRÊN TẬP HUẤN LUYỆN</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So sánh Cơ chế Hội tụ và Ngưỡng Toàn cục của 03 Thuật toán</a:t>
            </a:r>
            <a:endParaRPr lang="en-US" sz="1400" dirty="0"/>
          </a:p>
        </p:txBody>
      </p:sp>
      <p:pic>
        <p:nvPicPr>
          <p:cNvPr id="8" name="Image 0" descr="/home/phuqy/Documents/main_gk/assets/presentation/fig_training_summary.png">    </p:cNvPr>
          <p:cNvPicPr>
            <a:picLocks noChangeAspect="1"/>
          </p:cNvPicPr>
          <p:nvPr/>
        </p:nvPicPr>
        <p:blipFill>
          <a:blip r:embed="rId1"/>
          <a:stretch>
            <a:fillRect/>
          </a:stretch>
        </p:blipFill>
        <p:spPr>
          <a:xfrm>
            <a:off x="457200" y="1005840"/>
            <a:ext cx="8229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9/15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8. KẾT QUẢ THỰC NGHIỆM TT1: BINARY SEARCH</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Đánh giá trên 04 File Kiểm thử — Ngưỡng Toàn cục T = 0.000798</a:t>
            </a:r>
            <a:endParaRPr lang="en-US" sz="1400" dirty="0"/>
          </a:p>
        </p:txBody>
      </p:sp>
      <p:pic>
        <p:nvPicPr>
          <p:cNvPr id="8" name="Image 0" descr="/home/phuqy/Documents/main_gk/assets/presentation/fig_test_binary_4files.png">    </p:cNvPr>
          <p:cNvPicPr>
            <a:picLocks noChangeAspect="1"/>
          </p:cNvPicPr>
          <p:nvPr/>
        </p:nvPicPr>
        <p:blipFill>
          <a:blip r:embed="rId1"/>
          <a:stretch>
            <a:fillRect/>
          </a:stretch>
        </p:blipFill>
        <p:spPr>
          <a:xfrm>
            <a:off x="457200" y="1005840"/>
            <a:ext cx="822960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10/15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9. KẾT QUẢ THỰC NGHIỆM TT2: HISTOGRAM LOG(STE)</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Đánh giá trên 04 File Kiểm thử — Ngưỡng Toàn cục T = -2.4375 (W=2.0)</a:t>
            </a:r>
            <a:endParaRPr lang="en-US" sz="1400" dirty="0"/>
          </a:p>
        </p:txBody>
      </p:sp>
      <p:pic>
        <p:nvPicPr>
          <p:cNvPr id="8" name="Image 0" descr="/home/phuqy/Documents/main_gk/assets/presentation/fig_test_histogram_4files.png">    </p:cNvPr>
          <p:cNvPicPr>
            <a:picLocks noChangeAspect="1"/>
          </p:cNvPicPr>
          <p:nvPr/>
        </p:nvPicPr>
        <p:blipFill>
          <a:blip r:embed="rId1"/>
          <a:stretch>
            <a:fillRect/>
          </a:stretch>
        </p:blipFill>
        <p:spPr>
          <a:xfrm>
            <a:off x="457200" y="1005840"/>
            <a:ext cx="8229600" cy="3657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11/15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10. KẾT QUẢ THỰC NGHIỆM TT3: GAUSSIAN BAYES</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Đánh giá trên 04 File Kiểm thử — Ngưỡng Toàn cục T = 0.000792</a:t>
            </a:r>
            <a:endParaRPr lang="en-US" sz="1400" dirty="0"/>
          </a:p>
        </p:txBody>
      </p:sp>
      <p:pic>
        <p:nvPicPr>
          <p:cNvPr id="8" name="Image 0" descr="/home/phuqy/Documents/main_gk/assets/presentation/fig_test_gaussian_4files.png">    </p:cNvPr>
          <p:cNvPicPr>
            <a:picLocks noChangeAspect="1"/>
          </p:cNvPicPr>
          <p:nvPr/>
        </p:nvPicPr>
        <p:blipFill>
          <a:blip r:embed="rId1"/>
          <a:stretch>
            <a:fillRect/>
          </a:stretch>
        </p:blipFill>
        <p:spPr>
          <a:xfrm>
            <a:off x="457200" y="1005840"/>
            <a:ext cx="8229600" cy="365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12/15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11. ĐÁNH GIÁ MÔI TRƯỜNG PHÒNG THU (STUDIO)</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Tín hiệu Tinh sạch High SNR (37.7 - 49.3 dB) — Độ chính xác Tuyệt đối</a:t>
            </a:r>
            <a:endParaRPr lang="en-US" sz="1400" dirty="0"/>
          </a:p>
        </p:txBody>
      </p:sp>
      <p:pic>
        <p:nvPicPr>
          <p:cNvPr id="8" name="Image 0" descr="/home/phuqy/Documents/main_gk/assets/presentation/fig_studio_deepdive.png">    </p:cNvPr>
          <p:cNvPicPr>
            <a:picLocks noChangeAspect="1"/>
          </p:cNvPicPr>
          <p:nvPr/>
        </p:nvPicPr>
        <p:blipFill>
          <a:blip r:embed="rId1"/>
          <a:stretch>
            <a:fillRect/>
          </a:stretch>
        </p:blipFill>
        <p:spPr>
          <a:xfrm>
            <a:off x="457200" y="1005840"/>
            <a:ext cx="5669280" cy="3566160"/>
          </a:xfrm>
          <a:prstGeom prst="rect">
            <a:avLst/>
          </a:prstGeom>
        </p:spPr>
      </p:pic>
      <p:sp>
        <p:nvSpPr>
          <p:cNvPr id="9" name="Shape 6"/>
          <p:cNvSpPr/>
          <p:nvPr/>
        </p:nvSpPr>
        <p:spPr>
          <a:xfrm>
            <a:off x="6309360" y="1005840"/>
            <a:ext cx="2377440" cy="3566160"/>
          </a:xfrm>
          <a:prstGeom prst="roundRect">
            <a:avLst>
              <a:gd name="adj" fmla="val 3846"/>
            </a:avLst>
          </a:prstGeom>
          <a:solidFill>
            <a:srgbClr val="F8FAFC"/>
          </a:solidFill>
          <a:ln w="19050">
            <a:solidFill>
              <a:srgbClr val="00A8FF"/>
            </a:solidFill>
            <a:prstDash val="solid"/>
          </a:ln>
        </p:spPr>
      </p:sp>
      <p:sp>
        <p:nvSpPr>
          <p:cNvPr id="10" name="Text 7"/>
          <p:cNvSpPr/>
          <p:nvPr/>
        </p:nvSpPr>
        <p:spPr>
          <a:xfrm>
            <a:off x="6446520" y="1143000"/>
            <a:ext cx="2103120" cy="320040"/>
          </a:xfrm>
          <a:prstGeom prst="rect">
            <a:avLst/>
          </a:prstGeom>
          <a:noFill/>
          <a:ln/>
        </p:spPr>
        <p:txBody>
          <a:bodyPr wrap="square" rtlCol="0" anchor="ctr"/>
          <a:lstStyle/>
          <a:p>
            <a:pPr indent="0" marL="0">
              <a:buNone/>
            </a:pPr>
            <a:r>
              <a:rPr lang="en-US" sz="1500" b="1" dirty="0">
                <a:solidFill>
                  <a:srgbClr val="0284C7"/>
                </a:solidFill>
                <a:latin typeface="Arial" pitchFamily="34" charset="0"/>
                <a:ea typeface="Arial" pitchFamily="34" charset="-122"/>
                <a:cs typeface="Arial" pitchFamily="34" charset="-120"/>
              </a:rPr>
              <a:t>ĐẶC TÍNH STUDIO</a:t>
            </a:r>
            <a:endParaRPr lang="en-US" sz="1500" dirty="0"/>
          </a:p>
        </p:txBody>
      </p:sp>
      <p:sp>
        <p:nvSpPr>
          <p:cNvPr id="11" name="Text 8"/>
          <p:cNvSpPr/>
          <p:nvPr/>
        </p:nvSpPr>
        <p:spPr>
          <a:xfrm>
            <a:off x="6446520" y="1554480"/>
            <a:ext cx="2103120" cy="2834640"/>
          </a:xfrm>
          <a:prstGeom prst="rect">
            <a:avLst/>
          </a:prstGeom>
          <a:noFill/>
          <a:ln/>
        </p:spPr>
        <p:txBody>
          <a:bodyPr wrap="square" lIns="0" tIns="0" rIns="0" bIns="0" rtlCol="0" anchor="ctr"/>
          <a:lstStyle/>
          <a:p>
            <a:pPr indent="0" marL="0">
              <a:buNone/>
            </a:pPr>
            <a:r>
              <a:rPr lang="en-US" sz="1800" b="1" dirty="0">
                <a:solidFill>
                  <a:srgbClr val="0284C7"/>
                </a:solidFill>
                <a:latin typeface="Arial" pitchFamily="34" charset="0"/>
                <a:ea typeface="Arial" pitchFamily="34" charset="-122"/>
                <a:cs typeface="Arial" pitchFamily="34" charset="-120"/>
              </a:rPr>
              <a:t>• SNR cực cao:
</a:t>
            </a:r>
            <a:pPr indent="0" marL="0">
              <a:buNone/>
            </a:pPr>
            <a:r>
              <a:rPr lang="en-US" sz="1800" dirty="0">
                <a:solidFill>
                  <a:srgbClr val="0F172A"/>
                </a:solidFill>
                <a:latin typeface="Arial" pitchFamily="34" charset="0"/>
                <a:ea typeface="Arial" pitchFamily="34" charset="-122"/>
                <a:cs typeface="Arial" pitchFamily="34" charset="-120"/>
              </a:rPr>
              <a:t>Studio F2: 49.3 dB
Studio M2: 37.7 dB
</a:t>
            </a:r>
            <a:pPr indent="0" marL="0">
              <a:buNone/>
            </a:pPr>
            <a:r>
              <a:rPr lang="en-US" sz="1800" b="1" dirty="0">
                <a:solidFill>
                  <a:srgbClr val="10B981"/>
                </a:solidFill>
                <a:latin typeface="Arial" pitchFamily="34" charset="0"/>
                <a:ea typeface="Arial" pitchFamily="34" charset="-122"/>
                <a:cs typeface="Arial" pitchFamily="34" charset="-120"/>
              </a:rPr>
              <a:t>• Sai số cực thấp:
</a:t>
            </a:r>
            <a:pPr indent="0" marL="0">
              <a:buNone/>
            </a:pPr>
            <a:r>
              <a:rPr lang="en-US" sz="1800" b="1" dirty="0">
                <a:solidFill>
                  <a:srgbClr val="10B981"/>
                </a:solidFill>
                <a:latin typeface="Arial" pitchFamily="34" charset="0"/>
                <a:ea typeface="Arial" pitchFamily="34" charset="-122"/>
                <a:cs typeface="Arial" pitchFamily="34" charset="-120"/>
              </a:rPr>
              <a:t>MAE chỉ từ 2.49 đến 12.49 ms
</a:t>
            </a:r>
            <a:pPr indent="0" marL="0">
              <a:buNone/>
            </a:pPr>
            <a:r>
              <a:rPr lang="en-US" sz="1800" b="1" dirty="0">
                <a:solidFill>
                  <a:srgbClr val="0F172A"/>
                </a:solidFill>
                <a:latin typeface="Arial" pitchFamily="34" charset="0"/>
                <a:ea typeface="Arial" pitchFamily="34" charset="-122"/>
                <a:cs typeface="Arial" pitchFamily="34" charset="-120"/>
              </a:rPr>
              <a:t>• Kết luận:
</a:t>
            </a:r>
            <a:pPr indent="0" marL="0">
              <a:buNone/>
            </a:pPr>
            <a:r>
              <a:rPr lang="en-US" sz="1800" dirty="0">
                <a:solidFill>
                  <a:srgbClr val="475569"/>
                </a:solidFill>
                <a:latin typeface="Arial" pitchFamily="34" charset="0"/>
                <a:ea typeface="Arial" pitchFamily="34" charset="-122"/>
                <a:cs typeface="Arial" pitchFamily="34" charset="-120"/>
              </a:rPr>
              <a:t>Cả 3 thuật toán đều phân đoạn hoàn hảo.</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13/15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12. ĐÁNH GIÁ MÔI TRƯỜNG ĐIỆN THOẠI (PHONE)</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Tín hiệu Nhiễu nền Low SNR (24.8 - 27.0 dB) — Ưu thế Kháng nhiễu</a:t>
            </a:r>
            <a:endParaRPr lang="en-US" sz="1400" dirty="0"/>
          </a:p>
        </p:txBody>
      </p:sp>
      <p:pic>
        <p:nvPicPr>
          <p:cNvPr id="8" name="Image 0" descr="/home/phuqy/Documents/main_gk/assets/presentation/fig_phone_deepdive.png">    </p:cNvPr>
          <p:cNvPicPr>
            <a:picLocks noChangeAspect="1"/>
          </p:cNvPicPr>
          <p:nvPr/>
        </p:nvPicPr>
        <p:blipFill>
          <a:blip r:embed="rId1"/>
          <a:stretch>
            <a:fillRect/>
          </a:stretch>
        </p:blipFill>
        <p:spPr>
          <a:xfrm>
            <a:off x="457200" y="1005840"/>
            <a:ext cx="5669280" cy="3566160"/>
          </a:xfrm>
          <a:prstGeom prst="rect">
            <a:avLst/>
          </a:prstGeom>
        </p:spPr>
      </p:pic>
      <p:sp>
        <p:nvSpPr>
          <p:cNvPr id="9" name="Shape 6"/>
          <p:cNvSpPr/>
          <p:nvPr/>
        </p:nvSpPr>
        <p:spPr>
          <a:xfrm>
            <a:off x="6309360" y="1005840"/>
            <a:ext cx="2377440" cy="3566160"/>
          </a:xfrm>
          <a:prstGeom prst="roundRect">
            <a:avLst>
              <a:gd name="adj" fmla="val 3846"/>
            </a:avLst>
          </a:prstGeom>
          <a:solidFill>
            <a:srgbClr val="F8FAFC"/>
          </a:solidFill>
          <a:ln w="19050">
            <a:solidFill>
              <a:srgbClr val="F58220"/>
            </a:solidFill>
            <a:prstDash val="solid"/>
          </a:ln>
        </p:spPr>
      </p:sp>
      <p:sp>
        <p:nvSpPr>
          <p:cNvPr id="10" name="Text 7"/>
          <p:cNvSpPr/>
          <p:nvPr/>
        </p:nvSpPr>
        <p:spPr>
          <a:xfrm>
            <a:off x="6446520" y="1143000"/>
            <a:ext cx="2103120" cy="320040"/>
          </a:xfrm>
          <a:prstGeom prst="rect">
            <a:avLst/>
          </a:prstGeom>
          <a:noFill/>
          <a:ln/>
        </p:spPr>
        <p:txBody>
          <a:bodyPr wrap="square" rtlCol="0" anchor="ctr"/>
          <a:lstStyle/>
          <a:p>
            <a:pPr indent="0" marL="0">
              <a:buNone/>
            </a:pPr>
            <a:r>
              <a:rPr lang="en-US" sz="1500" b="1" dirty="0">
                <a:solidFill>
                  <a:srgbClr val="C2410C"/>
                </a:solidFill>
                <a:latin typeface="Arial" pitchFamily="34" charset="0"/>
                <a:ea typeface="Arial" pitchFamily="34" charset="-122"/>
                <a:cs typeface="Arial" pitchFamily="34" charset="-120"/>
              </a:rPr>
              <a:t>TÁC ĐỘNG CỦA NHIỄU</a:t>
            </a:r>
            <a:endParaRPr lang="en-US" sz="1500" dirty="0"/>
          </a:p>
        </p:txBody>
      </p:sp>
      <p:sp>
        <p:nvSpPr>
          <p:cNvPr id="11" name="Text 8"/>
          <p:cNvSpPr/>
          <p:nvPr/>
        </p:nvSpPr>
        <p:spPr>
          <a:xfrm>
            <a:off x="6446520" y="1554480"/>
            <a:ext cx="2103120" cy="2834640"/>
          </a:xfrm>
          <a:prstGeom prst="rect">
            <a:avLst/>
          </a:prstGeom>
          <a:noFill/>
          <a:ln/>
        </p:spPr>
        <p:txBody>
          <a:bodyPr wrap="square" lIns="0" tIns="0" rIns="0" bIns="0" rtlCol="0" anchor="ctr"/>
          <a:lstStyle/>
          <a:p>
            <a:pPr indent="0" marL="0">
              <a:buNone/>
            </a:pPr>
            <a:r>
              <a:rPr lang="en-US" sz="1800" b="1" dirty="0">
                <a:solidFill>
                  <a:srgbClr val="C2410C"/>
                </a:solidFill>
                <a:latin typeface="Arial" pitchFamily="34" charset="0"/>
                <a:ea typeface="Arial" pitchFamily="34" charset="-122"/>
                <a:cs typeface="Arial" pitchFamily="34" charset="-120"/>
              </a:rPr>
              <a:t>• SNR thấp:
</a:t>
            </a:r>
            <a:pPr indent="0" marL="0">
              <a:buNone/>
            </a:pPr>
            <a:r>
              <a:rPr lang="en-US" sz="1800" dirty="0">
                <a:solidFill>
                  <a:srgbClr val="0F172A"/>
                </a:solidFill>
                <a:latin typeface="Arial" pitchFamily="34" charset="0"/>
                <a:ea typeface="Arial" pitchFamily="34" charset="-122"/>
                <a:cs typeface="Arial" pitchFamily="34" charset="-120"/>
              </a:rPr>
              <a:t>Phone M2: 27.0 dB
Phone F2: 24.8 dB
</a:t>
            </a:r>
            <a:pPr indent="0" marL="0">
              <a:buNone/>
            </a:pPr>
            <a:r>
              <a:rPr lang="en-US" sz="1800" b="1" dirty="0">
                <a:solidFill>
                  <a:srgbClr val="10B981"/>
                </a:solidFill>
                <a:latin typeface="Arial" pitchFamily="34" charset="0"/>
                <a:ea typeface="Arial" pitchFamily="34" charset="-122"/>
                <a:cs typeface="Arial" pitchFamily="34" charset="-120"/>
              </a:rPr>
              <a:t>• TT2 vượt trội:
</a:t>
            </a:r>
            <a:pPr indent="0" marL="0">
              <a:buNone/>
            </a:pPr>
            <a:r>
              <a:rPr lang="en-US" sz="1800" b="1" dirty="0">
                <a:solidFill>
                  <a:srgbClr val="10B981"/>
                </a:solidFill>
                <a:latin typeface="Arial" pitchFamily="34" charset="0"/>
                <a:ea typeface="Arial" pitchFamily="34" charset="-122"/>
                <a:cs typeface="Arial" pitchFamily="34" charset="-120"/>
              </a:rPr>
              <a:t>MAE chỉ 27.5 ms (so với 35.0 ms của TT1/TT3)
</a:t>
            </a:r>
            <a:pPr indent="0" marL="0">
              <a:buNone/>
            </a:pPr>
            <a:r>
              <a:rPr lang="en-US" sz="1800" b="1" dirty="0">
                <a:solidFill>
                  <a:srgbClr val="0F172A"/>
                </a:solidFill>
                <a:latin typeface="Arial" pitchFamily="34" charset="0"/>
                <a:ea typeface="Arial" pitchFamily="34" charset="-122"/>
                <a:cs typeface="Arial" pitchFamily="34" charset="-120"/>
              </a:rPr>
              <a:t>• Lý do:
</a:t>
            </a:r>
            <a:pPr indent="0" marL="0">
              <a:buNone/>
            </a:pPr>
            <a:r>
              <a:rPr lang="en-US" sz="1800" dirty="0">
                <a:solidFill>
                  <a:srgbClr val="475569"/>
                </a:solidFill>
                <a:latin typeface="Arial" pitchFamily="34" charset="0"/>
                <a:ea typeface="Arial" pitchFamily="34" charset="-122"/>
                <a:cs typeface="Arial" pitchFamily="34" charset="-120"/>
              </a:rPr>
              <a:t>Không gian log nén nhiễu nền hiệu quả.</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14/15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13. TỔNG HỢP ĐỊNH LƯỢNG &amp; TÁC ĐỘNG CỦA SNR</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Đối chiếu Sai số MAE/RMSE giữa 03 Thuật toán trên Toàn bộ Tập Kiểm thử</a:t>
            </a:r>
            <a:endParaRPr lang="en-US" sz="1400" dirty="0"/>
          </a:p>
        </p:txBody>
      </p:sp>
      <p:pic>
        <p:nvPicPr>
          <p:cNvPr id="8" name="Image 0" descr="/home/phuqy/Documents/main_gk/assets/presentation/fig_snr_comparison.png">    </p:cNvPr>
          <p:cNvPicPr>
            <a:picLocks noChangeAspect="1"/>
          </p:cNvPicPr>
          <p:nvPr/>
        </p:nvPicPr>
        <p:blipFill>
          <a:blip r:embed="rId1"/>
          <a:stretch>
            <a:fillRect/>
          </a:stretch>
        </p:blipFill>
        <p:spPr>
          <a:xfrm>
            <a:off x="457200" y="1005840"/>
            <a:ext cx="5120640" cy="3566160"/>
          </a:xfrm>
          <a:prstGeom prst="rect">
            <a:avLst/>
          </a:prstGeom>
        </p:spPr>
      </p:pic>
      <p:sp>
        <p:nvSpPr>
          <p:cNvPr id="9" name="Shape 6"/>
          <p:cNvSpPr/>
          <p:nvPr/>
        </p:nvSpPr>
        <p:spPr>
          <a:xfrm>
            <a:off x="5760720" y="1005840"/>
            <a:ext cx="2926080" cy="3566160"/>
          </a:xfrm>
          <a:prstGeom prst="roundRect">
            <a:avLst>
              <a:gd name="adj" fmla="val 3125"/>
            </a:avLst>
          </a:prstGeom>
          <a:solidFill>
            <a:srgbClr val="F8FAFC"/>
          </a:solidFill>
          <a:ln w="12700">
            <a:solidFill>
              <a:srgbClr val="CBD5E1"/>
            </a:solidFill>
            <a:prstDash val="solid"/>
          </a:ln>
        </p:spPr>
      </p:sp>
      <p:sp>
        <p:nvSpPr>
          <p:cNvPr id="10" name="Text 7"/>
          <p:cNvSpPr/>
          <p:nvPr/>
        </p:nvSpPr>
        <p:spPr>
          <a:xfrm>
            <a:off x="5897880" y="1143000"/>
            <a:ext cx="2651760" cy="320040"/>
          </a:xfrm>
          <a:prstGeom prst="rect">
            <a:avLst/>
          </a:prstGeom>
          <a:noFill/>
          <a:ln/>
        </p:spPr>
        <p:txBody>
          <a:bodyPr wrap="square" rtlCol="0" anchor="ctr"/>
          <a:lstStyle/>
          <a:p>
            <a:pPr indent="0" marL="0">
              <a:buNone/>
            </a:pPr>
            <a:r>
              <a:rPr lang="en-US" sz="1500" b="1" dirty="0">
                <a:solidFill>
                  <a:srgbClr val="F58220"/>
                </a:solidFill>
                <a:latin typeface="Arial" pitchFamily="34" charset="0"/>
                <a:ea typeface="Arial" pitchFamily="34" charset="-122"/>
                <a:cs typeface="Arial" pitchFamily="34" charset="-120"/>
              </a:rPr>
              <a:t>BẢNG SAI SỐ TRUNG BÌNH</a:t>
            </a:r>
            <a:endParaRPr lang="en-US" sz="1500" dirty="0"/>
          </a:p>
        </p:txBody>
      </p:sp>
      <p:sp>
        <p:nvSpPr>
          <p:cNvPr id="11" name="Text 8"/>
          <p:cNvSpPr/>
          <p:nvPr/>
        </p:nvSpPr>
        <p:spPr>
          <a:xfrm>
            <a:off x="5897880" y="1554480"/>
            <a:ext cx="2651760" cy="2834640"/>
          </a:xfrm>
          <a:prstGeom prst="rect">
            <a:avLst/>
          </a:prstGeom>
          <a:noFill/>
          <a:ln/>
        </p:spPr>
        <p:txBody>
          <a:bodyPr wrap="square" lIns="0" tIns="0" rIns="0" bIns="0" rtlCol="0" anchor="ctr"/>
          <a:lstStyle/>
          <a:p>
            <a:pPr indent="0" marL="0">
              <a:buNone/>
            </a:pPr>
            <a:r>
              <a:rPr lang="en-US" sz="1800" b="1" dirty="0">
                <a:solidFill>
                  <a:srgbClr val="0284C7"/>
                </a:solidFill>
                <a:latin typeface="Arial" pitchFamily="34" charset="0"/>
                <a:ea typeface="Arial" pitchFamily="34" charset="-122"/>
                <a:cs typeface="Arial" pitchFamily="34" charset="-120"/>
              </a:rPr>
              <a:t>• Môi trường Studio:
</a:t>
            </a:r>
            <a:pPr indent="0" marL="0">
              <a:buNone/>
            </a:pPr>
            <a:r>
              <a:rPr lang="en-US" sz="1800" dirty="0">
                <a:solidFill>
                  <a:srgbClr val="0F172A"/>
                </a:solidFill>
                <a:latin typeface="Arial" pitchFamily="34" charset="0"/>
                <a:ea typeface="Arial" pitchFamily="34" charset="-122"/>
                <a:cs typeface="Arial" pitchFamily="34" charset="-120"/>
              </a:rPr>
              <a:t>TT1: 7.49 ms | TT2: 8.75 ms
</a:t>
            </a:r>
            <a:pPr indent="0" marL="0">
              <a:buNone/>
            </a:pPr>
            <a:r>
              <a:rPr lang="en-US" sz="1800" b="1" dirty="0">
                <a:solidFill>
                  <a:srgbClr val="C2410C"/>
                </a:solidFill>
                <a:latin typeface="Arial" pitchFamily="34" charset="0"/>
                <a:ea typeface="Arial" pitchFamily="34" charset="-122"/>
                <a:cs typeface="Arial" pitchFamily="34" charset="-120"/>
              </a:rPr>
              <a:t>• Môi trường Phone:
</a:t>
            </a:r>
            <a:pPr indent="0" marL="0">
              <a:buNone/>
            </a:pPr>
            <a:r>
              <a:rPr lang="en-US" sz="1800" dirty="0">
                <a:solidFill>
                  <a:srgbClr val="0F172A"/>
                </a:solidFill>
                <a:latin typeface="Arial" pitchFamily="34" charset="0"/>
                <a:ea typeface="Arial" pitchFamily="34" charset="-122"/>
                <a:cs typeface="Arial" pitchFamily="34" charset="-120"/>
              </a:rPr>
              <a:t>TT1: 35.0 ms | TT2: 27.5 ms
</a:t>
            </a:r>
            <a:pPr indent="0" marL="0">
              <a:buNone/>
            </a:pPr>
            <a:r>
              <a:rPr lang="en-US" sz="1800" b="1" dirty="0">
                <a:solidFill>
                  <a:srgbClr val="10B981"/>
                </a:solidFill>
                <a:latin typeface="Arial" pitchFamily="34" charset="0"/>
                <a:ea typeface="Arial" pitchFamily="34" charset="-122"/>
                <a:cs typeface="Arial" pitchFamily="34" charset="-120"/>
              </a:rPr>
              <a:t>• Toàn bộ 04 file:
</a:t>
            </a:r>
            <a:pPr indent="0" marL="0">
              <a:buNone/>
            </a:pPr>
            <a:r>
              <a:rPr lang="en-US" sz="1800" b="1" dirty="0">
                <a:solidFill>
                  <a:srgbClr val="10B981"/>
                </a:solidFill>
                <a:latin typeface="Arial" pitchFamily="34" charset="0"/>
                <a:ea typeface="Arial" pitchFamily="34" charset="-122"/>
                <a:cs typeface="Arial" pitchFamily="34" charset="-120"/>
              </a:rPr>
              <a:t>TT1: 21.25 ms</a:t>
            </a:r>
            <a:endParaRPr lang="en-US" sz="1800" dirty="0"/>
          </a:p>
          <a:p>
            <a:pPr indent="0" marL="0">
              <a:buNone/>
            </a:pPr>
            <a:r>
              <a:rPr lang="en-US" sz="1800" b="1" dirty="0">
                <a:solidFill>
                  <a:srgbClr val="10B981"/>
                </a:solidFill>
                <a:latin typeface="Arial" pitchFamily="34" charset="0"/>
                <a:ea typeface="Arial" pitchFamily="34" charset="-122"/>
                <a:cs typeface="Arial" pitchFamily="34" charset="-120"/>
              </a:rPr>
              <a:t>TT2: 18.12 ms (Tốt nhất)</a:t>
            </a:r>
            <a:endParaRPr lang="en-US" sz="1800" dirty="0"/>
          </a:p>
          <a:p>
            <a:pPr indent="0" marL="0">
              <a:buNone/>
            </a:pPr>
            <a:r>
              <a:rPr lang="en-US" sz="1800" b="1" dirty="0">
                <a:solidFill>
                  <a:srgbClr val="10B981"/>
                </a:solidFill>
                <a:latin typeface="Arial" pitchFamily="34" charset="0"/>
                <a:ea typeface="Arial" pitchFamily="34" charset="-122"/>
                <a:cs typeface="Arial" pitchFamily="34" charset="-120"/>
              </a:rPr>
              <a:t>TT3: 21.25 ms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8220"/>
          </a:solidFill>
          <a:ln w="12700">
            <a:solidFill>
              <a:srgbClr val="F58220"/>
            </a:solidFill>
            <a:prstDash val="solid"/>
          </a:ln>
        </p:spPr>
      </p:sp>
      <p:sp>
        <p:nvSpPr>
          <p:cNvPr id="3" name="Shape 1"/>
          <p:cNvSpPr/>
          <p:nvPr/>
        </p:nvSpPr>
        <p:spPr>
          <a:xfrm>
            <a:off x="0" y="5029200"/>
            <a:ext cx="9144000" cy="114300"/>
          </a:xfrm>
          <a:prstGeom prst="rect">
            <a:avLst/>
          </a:prstGeom>
          <a:solidFill>
            <a:srgbClr val="00A8FF"/>
          </a:solidFill>
          <a:ln w="12700">
            <a:solidFill>
              <a:srgbClr val="00A8FF"/>
            </a:solidFill>
            <a:prstDash val="solid"/>
          </a:ln>
        </p:spPr>
      </p:sp>
      <p:sp>
        <p:nvSpPr>
          <p:cNvPr id="4" name="Shape 2"/>
          <p:cNvSpPr/>
          <p:nvPr/>
        </p:nvSpPr>
        <p:spPr>
          <a:xfrm>
            <a:off x="0" y="4992624"/>
            <a:ext cx="9144000" cy="36576"/>
          </a:xfrm>
          <a:prstGeom prst="rect">
            <a:avLst/>
          </a:prstGeom>
          <a:solidFill>
            <a:srgbClr val="1E293B"/>
          </a:solidFill>
          <a:ln w="12700">
            <a:solidFill>
              <a:srgbClr val="1E293B"/>
            </a:solidFill>
            <a:prstDash val="solid"/>
          </a:ln>
        </p:spPr>
      </p:sp>
      <p:sp>
        <p:nvSpPr>
          <p:cNvPr id="5" name="Text 3"/>
          <p:cNvSpPr/>
          <p:nvPr/>
        </p:nvSpPr>
        <p:spPr>
          <a:xfrm>
            <a:off x="457200" y="4800600"/>
            <a:ext cx="82296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BÁO CÁO THI GIỮA KỲ — MÔN XỬ LÝ TÍN HIỆU SỐ | SLIDE 15/15</a:t>
            </a:r>
            <a:endParaRPr lang="en-US" sz="900" dirty="0"/>
          </a:p>
        </p:txBody>
      </p:sp>
      <p:sp>
        <p:nvSpPr>
          <p:cNvPr id="6" name="Text 4"/>
          <p:cNvSpPr/>
          <p:nvPr/>
        </p:nvSpPr>
        <p:spPr>
          <a:xfrm>
            <a:off x="457200" y="228600"/>
            <a:ext cx="8229600" cy="411480"/>
          </a:xfrm>
          <a:prstGeom prst="rect">
            <a:avLst/>
          </a:prstGeom>
          <a:noFill/>
          <a:ln/>
        </p:spPr>
        <p:txBody>
          <a:bodyPr wrap="square" lIns="0" tIns="0" rIns="0" bIns="0" rtlCol="0" anchor="ctr"/>
          <a:lstStyle/>
          <a:p>
            <a:pPr indent="0" marL="0">
              <a:buNone/>
            </a:pPr>
            <a:r>
              <a:rPr lang="en-US" sz="2200" b="1" dirty="0">
                <a:solidFill>
                  <a:srgbClr val="00A8FF"/>
                </a:solidFill>
                <a:latin typeface="Arial" pitchFamily="34" charset="0"/>
                <a:ea typeface="Arial" pitchFamily="34" charset="-122"/>
                <a:cs typeface="Arial" pitchFamily="34" charset="-120"/>
              </a:rPr>
              <a:t>14. KẾT LUẬN &amp; HƯỚNG MỞ RỘNG NGƯỠNG KÉP</a:t>
            </a:r>
            <a:endParaRPr lang="en-US" sz="2200" dirty="0"/>
          </a:p>
        </p:txBody>
      </p:sp>
      <p:sp>
        <p:nvSpPr>
          <p:cNvPr id="7" name="Text 5"/>
          <p:cNvSpPr/>
          <p:nvPr/>
        </p:nvSpPr>
        <p:spPr>
          <a:xfrm>
            <a:off x="457200" y="621792"/>
            <a:ext cx="8229600"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Giải pháp Khắc phục Âm Vô thanh bằng Zero Crossing Rate (ZCR)</a:t>
            </a:r>
            <a:endParaRPr lang="en-US" sz="1400" dirty="0"/>
          </a:p>
        </p:txBody>
      </p:sp>
      <p:pic>
        <p:nvPicPr>
          <p:cNvPr id="8" name="Image 0" descr="/home/phuqy/Documents/main_gk/assets/presentation/fig_zcr_concept.png">    </p:cNvPr>
          <p:cNvPicPr>
            <a:picLocks noChangeAspect="1"/>
          </p:cNvPicPr>
          <p:nvPr/>
        </p:nvPicPr>
        <p:blipFill>
          <a:blip r:embed="rId1"/>
          <a:stretch>
            <a:fillRect/>
          </a:stretch>
        </p:blipFill>
        <p:spPr>
          <a:xfrm>
            <a:off x="457200" y="1005840"/>
            <a:ext cx="8229600"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đoạn Tiếng nói và Khoảng lặng (15 Slides)</dc:title>
  <dc:subject>Báo cáo Giữa kỳ môn Xử lý Tín hiệu Số - XLTHS 2026</dc:subject>
  <dc:creator>Nhóm Sinh viên</dc:creator>
  <cp:lastModifiedBy>Nhóm Sinh viên</cp:lastModifiedBy>
  <cp:revision>1</cp:revision>
  <dcterms:created xsi:type="dcterms:W3CDTF">2026-10-07T01:20:33Z</dcterms:created>
  <dcterms:modified xsi:type="dcterms:W3CDTF">2026-10-07T01:20:33Z</dcterms:modified>
</cp:coreProperties>
</file>