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DM Sans Bold" charset="1" panose="00000000000000000000"/>
      <p:regular r:id="rId22"/>
    </p:embeddedFont>
    <p:embeddedFont>
      <p:font typeface="Helvetica World Bold" charset="1" panose="020B0800040000020004"/>
      <p:regular r:id="rId23"/>
    </p:embeddedFont>
    <p:embeddedFont>
      <p:font typeface="Helvetica World" charset="1" panose="020B0500040000020004"/>
      <p:regular r:id="rId24"/>
    </p:embeddedFont>
    <p:embeddedFont>
      <p:font typeface="Canva Sans" charset="1" panose="020B0503030501040103"/>
      <p:regular r:id="rId25"/>
    </p:embeddedFont>
    <p:embeddedFont>
      <p:font typeface="Lato" charset="1" panose="020F0502020204030203"/>
      <p:regular r:id="rId26"/>
    </p:embeddedFont>
    <p:embeddedFont>
      <p:font typeface="Kagitingan" charset="1" panose="00000000000000000000"/>
      <p:regular r:id="rId27"/>
    </p:embeddedFont>
    <p:embeddedFont>
      <p:font typeface="Computer Says No" charset="1" panose="00000400000000000000"/>
      <p:regular r:id="rId28"/>
    </p:embeddedFont>
    <p:embeddedFont>
      <p:font typeface="Lato Bold" charset="1" panose="020F05020202040302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91187" y="9750483"/>
            <a:ext cx="19070375" cy="686932"/>
            <a:chOff x="0" y="0"/>
            <a:chExt cx="5022650" cy="180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2650" cy="180920"/>
            </a:xfrm>
            <a:custGeom>
              <a:avLst/>
              <a:gdLst/>
              <a:ahLst/>
              <a:cxnLst/>
              <a:rect r="r" b="b" t="t" l="l"/>
              <a:pathLst>
                <a:path h="180920" w="5022650">
                  <a:moveTo>
                    <a:pt x="0" y="0"/>
                  </a:moveTo>
                  <a:lnTo>
                    <a:pt x="5022650" y="0"/>
                  </a:lnTo>
                  <a:lnTo>
                    <a:pt x="5022650" y="180920"/>
                  </a:lnTo>
                  <a:lnTo>
                    <a:pt x="0" y="180920"/>
                  </a:lnTo>
                  <a:close/>
                </a:path>
              </a:pathLst>
            </a:custGeom>
            <a:solidFill>
              <a:srgbClr val="00BCD4"/>
            </a:solidFill>
            <a:ln w="1428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2650" cy="219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0501" y="-601712"/>
            <a:ext cx="19070375" cy="1630412"/>
            <a:chOff x="0" y="0"/>
            <a:chExt cx="5022650" cy="4294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22650" cy="429409"/>
            </a:xfrm>
            <a:custGeom>
              <a:avLst/>
              <a:gdLst/>
              <a:ahLst/>
              <a:cxnLst/>
              <a:rect r="r" b="b" t="t" l="l"/>
              <a:pathLst>
                <a:path h="429409" w="5022650">
                  <a:moveTo>
                    <a:pt x="0" y="0"/>
                  </a:moveTo>
                  <a:lnTo>
                    <a:pt x="5022650" y="0"/>
                  </a:lnTo>
                  <a:lnTo>
                    <a:pt x="5022650" y="429409"/>
                  </a:lnTo>
                  <a:lnTo>
                    <a:pt x="0" y="429409"/>
                  </a:lnTo>
                  <a:close/>
                </a:path>
              </a:pathLst>
            </a:custGeom>
            <a:solidFill>
              <a:srgbClr val="FF98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22650" cy="467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45011" y="2700000"/>
            <a:ext cx="13797979" cy="686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vi-VN" b="true" sz="5000">
                <a:solidFill>
                  <a:srgbClr val="00A8FF"/>
                </a:solidFill>
                <a:latin typeface="Arial"/>
                <a:cs typeface="Arial"/>
              </a:rPr>
              <a:t>PHÂN ĐOẠN TIẾNG NÓI VÀ KHOẢNG LẶNG (VAD)</a:t>
            </a:r>
          </a:p>
          <a:p>
            <a:pPr algn="ctr">
              <a:lnSpc>
                <a:spcPts val="5000"/>
              </a:lnSpc>
              <a:spcBef>
                <a:spcPts val="1500"/>
              </a:spcBef>
            </a:pPr>
            <a:r>
              <a:rPr lang="vi-VN" b="true" sz="2800">
                <a:solidFill>
                  <a:srgbClr val="F58220"/>
                </a:solidFill>
                <a:latin typeface="Arial"/>
                <a:cs typeface="Arial"/>
              </a:rPr>
              <a:t>Thuật toán 3: Phân phối chuẩn Gaussian &amp; Ngưỡng Bayes T*</a:t>
            </a:r>
          </a:p>
          <a:p>
            <a:pPr algn="ctr">
              <a:lnSpc>
                <a:spcPts val="4000"/>
              </a:lnSpc>
              <a:spcBef>
                <a:spcPts val="2000"/>
              </a:spcBef>
            </a:pPr>
            <a:r>
              <a:rPr lang="vi-VN" b="true" sz="2200">
                <a:solidFill>
                  <a:srgbClr val="333333"/>
                </a:solidFill>
                <a:latin typeface="Arial"/>
                <a:cs typeface="Arial"/>
              </a:rPr>
              <a:t>Báo cáo Giữa kỳ môn Xử lý Tín hiệu Số (XLTHS 2026) — Nhóm 14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28052" y="3029330"/>
            <a:ext cx="2648069" cy="1217832"/>
            <a:chOff x="0" y="0"/>
            <a:chExt cx="697434" cy="3207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7434" cy="320746"/>
            </a:xfrm>
            <a:custGeom>
              <a:avLst/>
              <a:gdLst/>
              <a:ahLst/>
              <a:cxnLst/>
              <a:rect r="r" b="b" t="t" l="l"/>
              <a:pathLst>
                <a:path h="320746" w="697434">
                  <a:moveTo>
                    <a:pt x="122792" y="0"/>
                  </a:moveTo>
                  <a:lnTo>
                    <a:pt x="574642" y="0"/>
                  </a:lnTo>
                  <a:cubicBezTo>
                    <a:pt x="642458" y="0"/>
                    <a:pt x="697434" y="54976"/>
                    <a:pt x="697434" y="122792"/>
                  </a:cubicBezTo>
                  <a:lnTo>
                    <a:pt x="697434" y="197954"/>
                  </a:lnTo>
                  <a:cubicBezTo>
                    <a:pt x="697434" y="265770"/>
                    <a:pt x="642458" y="320746"/>
                    <a:pt x="574642" y="320746"/>
                  </a:cubicBezTo>
                  <a:lnTo>
                    <a:pt x="122792" y="320746"/>
                  </a:lnTo>
                  <a:cubicBezTo>
                    <a:pt x="54976" y="320746"/>
                    <a:pt x="0" y="265770"/>
                    <a:pt x="0" y="197954"/>
                  </a:cubicBezTo>
                  <a:lnTo>
                    <a:pt x="0" y="122792"/>
                  </a:lnTo>
                  <a:cubicBezTo>
                    <a:pt x="0" y="54976"/>
                    <a:pt x="54976" y="0"/>
                    <a:pt x="122792" y="0"/>
                  </a:cubicBezTo>
                  <a:close/>
                </a:path>
              </a:pathLst>
            </a:custGeom>
            <a:solidFill>
              <a:srgbClr val="499FA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97434" cy="368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922661" y="3029330"/>
            <a:ext cx="2648069" cy="1217832"/>
            <a:chOff x="0" y="0"/>
            <a:chExt cx="697434" cy="3207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7434" cy="320746"/>
            </a:xfrm>
            <a:custGeom>
              <a:avLst/>
              <a:gdLst/>
              <a:ahLst/>
              <a:cxnLst/>
              <a:rect r="r" b="b" t="t" l="l"/>
              <a:pathLst>
                <a:path h="320746" w="697434">
                  <a:moveTo>
                    <a:pt x="122792" y="0"/>
                  </a:moveTo>
                  <a:lnTo>
                    <a:pt x="574642" y="0"/>
                  </a:lnTo>
                  <a:cubicBezTo>
                    <a:pt x="642458" y="0"/>
                    <a:pt x="697434" y="54976"/>
                    <a:pt x="697434" y="122792"/>
                  </a:cubicBezTo>
                  <a:lnTo>
                    <a:pt x="697434" y="197954"/>
                  </a:lnTo>
                  <a:cubicBezTo>
                    <a:pt x="697434" y="265770"/>
                    <a:pt x="642458" y="320746"/>
                    <a:pt x="574642" y="320746"/>
                  </a:cubicBezTo>
                  <a:lnTo>
                    <a:pt x="122792" y="320746"/>
                  </a:lnTo>
                  <a:cubicBezTo>
                    <a:pt x="54976" y="320746"/>
                    <a:pt x="0" y="265770"/>
                    <a:pt x="0" y="197954"/>
                  </a:cubicBezTo>
                  <a:lnTo>
                    <a:pt x="0" y="122792"/>
                  </a:lnTo>
                  <a:cubicBezTo>
                    <a:pt x="0" y="54976"/>
                    <a:pt x="54976" y="0"/>
                    <a:pt x="122792" y="0"/>
                  </a:cubicBezTo>
                  <a:close/>
                </a:path>
              </a:pathLst>
            </a:custGeom>
            <a:solidFill>
              <a:srgbClr val="62386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97434" cy="368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9753" y="3923996"/>
            <a:ext cx="3404667" cy="3709146"/>
            <a:chOff x="0" y="0"/>
            <a:chExt cx="896702" cy="9768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6702" cy="976894"/>
            </a:xfrm>
            <a:custGeom>
              <a:avLst/>
              <a:gdLst/>
              <a:ahLst/>
              <a:cxnLst/>
              <a:rect r="r" b="b" t="t" l="l"/>
              <a:pathLst>
                <a:path h="976894" w="896702">
                  <a:moveTo>
                    <a:pt x="50026" y="0"/>
                  </a:moveTo>
                  <a:lnTo>
                    <a:pt x="846676" y="0"/>
                  </a:lnTo>
                  <a:cubicBezTo>
                    <a:pt x="874305" y="0"/>
                    <a:pt x="896702" y="22397"/>
                    <a:pt x="896702" y="50026"/>
                  </a:cubicBezTo>
                  <a:lnTo>
                    <a:pt x="896702" y="926868"/>
                  </a:lnTo>
                  <a:cubicBezTo>
                    <a:pt x="896702" y="954497"/>
                    <a:pt x="874305" y="976894"/>
                    <a:pt x="846676" y="976894"/>
                  </a:cubicBezTo>
                  <a:lnTo>
                    <a:pt x="50026" y="976894"/>
                  </a:lnTo>
                  <a:cubicBezTo>
                    <a:pt x="22397" y="976894"/>
                    <a:pt x="0" y="954497"/>
                    <a:pt x="0" y="926868"/>
                  </a:cubicBezTo>
                  <a:lnTo>
                    <a:pt x="0" y="50026"/>
                  </a:lnTo>
                  <a:cubicBezTo>
                    <a:pt x="0" y="22397"/>
                    <a:pt x="22397" y="0"/>
                    <a:pt x="500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6702" cy="1024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544362" y="3923996"/>
            <a:ext cx="3404667" cy="3709146"/>
            <a:chOff x="0" y="0"/>
            <a:chExt cx="896702" cy="9768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6702" cy="976894"/>
            </a:xfrm>
            <a:custGeom>
              <a:avLst/>
              <a:gdLst/>
              <a:ahLst/>
              <a:cxnLst/>
              <a:rect r="r" b="b" t="t" l="l"/>
              <a:pathLst>
                <a:path h="976894" w="896702">
                  <a:moveTo>
                    <a:pt x="50026" y="0"/>
                  </a:moveTo>
                  <a:lnTo>
                    <a:pt x="846676" y="0"/>
                  </a:lnTo>
                  <a:cubicBezTo>
                    <a:pt x="874305" y="0"/>
                    <a:pt x="896702" y="22397"/>
                    <a:pt x="896702" y="50026"/>
                  </a:cubicBezTo>
                  <a:lnTo>
                    <a:pt x="896702" y="926868"/>
                  </a:lnTo>
                  <a:cubicBezTo>
                    <a:pt x="896702" y="954497"/>
                    <a:pt x="874305" y="976894"/>
                    <a:pt x="846676" y="976894"/>
                  </a:cubicBezTo>
                  <a:lnTo>
                    <a:pt x="50026" y="976894"/>
                  </a:lnTo>
                  <a:cubicBezTo>
                    <a:pt x="22397" y="976894"/>
                    <a:pt x="0" y="954497"/>
                    <a:pt x="0" y="926868"/>
                  </a:cubicBezTo>
                  <a:lnTo>
                    <a:pt x="0" y="50026"/>
                  </a:lnTo>
                  <a:cubicBezTo>
                    <a:pt x="0" y="22397"/>
                    <a:pt x="22397" y="0"/>
                    <a:pt x="500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96702" cy="1024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586823" y="6767879"/>
            <a:ext cx="2095500" cy="2095500"/>
          </a:xfrm>
          <a:custGeom>
            <a:avLst/>
            <a:gdLst/>
            <a:ahLst/>
            <a:cxnLst/>
            <a:rect r="r" b="b" t="t" l="l"/>
            <a:pathLst>
              <a:path h="2095500" w="2095500">
                <a:moveTo>
                  <a:pt x="0" y="0"/>
                </a:moveTo>
                <a:lnTo>
                  <a:pt x="2095500" y="0"/>
                </a:lnTo>
                <a:lnTo>
                  <a:pt x="20955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0">
            <a:off x="2586823" y="6767879"/>
            <a:ext cx="1730526" cy="173052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9FA2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381433" y="6767879"/>
            <a:ext cx="2095500" cy="2095500"/>
          </a:xfrm>
          <a:custGeom>
            <a:avLst/>
            <a:gdLst/>
            <a:ahLst/>
            <a:cxnLst/>
            <a:rect r="r" b="b" t="t" l="l"/>
            <a:pathLst>
              <a:path h="2095500" w="2095500">
                <a:moveTo>
                  <a:pt x="0" y="0"/>
                </a:moveTo>
                <a:lnTo>
                  <a:pt x="2095500" y="0"/>
                </a:lnTo>
                <a:lnTo>
                  <a:pt x="20955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6381433" y="6767879"/>
            <a:ext cx="1730526" cy="173052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386D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17270" y="3029330"/>
            <a:ext cx="2648069" cy="1217832"/>
            <a:chOff x="0" y="0"/>
            <a:chExt cx="697434" cy="3207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7434" cy="320746"/>
            </a:xfrm>
            <a:custGeom>
              <a:avLst/>
              <a:gdLst/>
              <a:ahLst/>
              <a:cxnLst/>
              <a:rect r="r" b="b" t="t" l="l"/>
              <a:pathLst>
                <a:path h="320746" w="697434">
                  <a:moveTo>
                    <a:pt x="122792" y="0"/>
                  </a:moveTo>
                  <a:lnTo>
                    <a:pt x="574642" y="0"/>
                  </a:lnTo>
                  <a:cubicBezTo>
                    <a:pt x="642458" y="0"/>
                    <a:pt x="697434" y="54976"/>
                    <a:pt x="697434" y="122792"/>
                  </a:cubicBezTo>
                  <a:lnTo>
                    <a:pt x="697434" y="197954"/>
                  </a:lnTo>
                  <a:cubicBezTo>
                    <a:pt x="697434" y="265770"/>
                    <a:pt x="642458" y="320746"/>
                    <a:pt x="574642" y="320746"/>
                  </a:cubicBezTo>
                  <a:lnTo>
                    <a:pt x="122792" y="320746"/>
                  </a:lnTo>
                  <a:cubicBezTo>
                    <a:pt x="54976" y="320746"/>
                    <a:pt x="0" y="265770"/>
                    <a:pt x="0" y="197954"/>
                  </a:cubicBezTo>
                  <a:lnTo>
                    <a:pt x="0" y="122792"/>
                  </a:lnTo>
                  <a:cubicBezTo>
                    <a:pt x="0" y="54976"/>
                    <a:pt x="54976" y="0"/>
                    <a:pt x="122792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97434" cy="368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38971" y="3923996"/>
            <a:ext cx="3404667" cy="3709146"/>
            <a:chOff x="0" y="0"/>
            <a:chExt cx="896702" cy="97689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6702" cy="976894"/>
            </a:xfrm>
            <a:custGeom>
              <a:avLst/>
              <a:gdLst/>
              <a:ahLst/>
              <a:cxnLst/>
              <a:rect r="r" b="b" t="t" l="l"/>
              <a:pathLst>
                <a:path h="976894" w="896702">
                  <a:moveTo>
                    <a:pt x="50026" y="0"/>
                  </a:moveTo>
                  <a:lnTo>
                    <a:pt x="846676" y="0"/>
                  </a:lnTo>
                  <a:cubicBezTo>
                    <a:pt x="874305" y="0"/>
                    <a:pt x="896702" y="22397"/>
                    <a:pt x="896702" y="50026"/>
                  </a:cubicBezTo>
                  <a:lnTo>
                    <a:pt x="896702" y="926868"/>
                  </a:lnTo>
                  <a:cubicBezTo>
                    <a:pt x="896702" y="954497"/>
                    <a:pt x="874305" y="976894"/>
                    <a:pt x="846676" y="976894"/>
                  </a:cubicBezTo>
                  <a:lnTo>
                    <a:pt x="50026" y="976894"/>
                  </a:lnTo>
                  <a:cubicBezTo>
                    <a:pt x="22397" y="976894"/>
                    <a:pt x="0" y="954497"/>
                    <a:pt x="0" y="926868"/>
                  </a:cubicBezTo>
                  <a:lnTo>
                    <a:pt x="0" y="50026"/>
                  </a:lnTo>
                  <a:cubicBezTo>
                    <a:pt x="0" y="22397"/>
                    <a:pt x="22397" y="0"/>
                    <a:pt x="500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96702" cy="1024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176042" y="6767879"/>
            <a:ext cx="2095500" cy="2095500"/>
          </a:xfrm>
          <a:custGeom>
            <a:avLst/>
            <a:gdLst/>
            <a:ahLst/>
            <a:cxnLst/>
            <a:rect r="r" b="b" t="t" l="l"/>
            <a:pathLst>
              <a:path h="2095500" w="2095500">
                <a:moveTo>
                  <a:pt x="0" y="0"/>
                </a:moveTo>
                <a:lnTo>
                  <a:pt x="2095500" y="0"/>
                </a:lnTo>
                <a:lnTo>
                  <a:pt x="20955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2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0" id="30"/>
          <p:cNvGrpSpPr/>
          <p:nvPr/>
        </p:nvGrpSpPr>
        <p:grpSpPr>
          <a:xfrm rot="0">
            <a:off x="10176042" y="6767879"/>
            <a:ext cx="1730526" cy="1730526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511880" y="3029330"/>
            <a:ext cx="2648069" cy="1217832"/>
            <a:chOff x="0" y="0"/>
            <a:chExt cx="697434" cy="32074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7434" cy="320746"/>
            </a:xfrm>
            <a:custGeom>
              <a:avLst/>
              <a:gdLst/>
              <a:ahLst/>
              <a:cxnLst/>
              <a:rect r="r" b="b" t="t" l="l"/>
              <a:pathLst>
                <a:path h="320746" w="697434">
                  <a:moveTo>
                    <a:pt x="122792" y="0"/>
                  </a:moveTo>
                  <a:lnTo>
                    <a:pt x="574642" y="0"/>
                  </a:lnTo>
                  <a:cubicBezTo>
                    <a:pt x="642458" y="0"/>
                    <a:pt x="697434" y="54976"/>
                    <a:pt x="697434" y="122792"/>
                  </a:cubicBezTo>
                  <a:lnTo>
                    <a:pt x="697434" y="197954"/>
                  </a:lnTo>
                  <a:cubicBezTo>
                    <a:pt x="697434" y="265770"/>
                    <a:pt x="642458" y="320746"/>
                    <a:pt x="574642" y="320746"/>
                  </a:cubicBezTo>
                  <a:lnTo>
                    <a:pt x="122792" y="320746"/>
                  </a:lnTo>
                  <a:cubicBezTo>
                    <a:pt x="54976" y="320746"/>
                    <a:pt x="0" y="265770"/>
                    <a:pt x="0" y="197954"/>
                  </a:cubicBezTo>
                  <a:lnTo>
                    <a:pt x="0" y="122792"/>
                  </a:lnTo>
                  <a:cubicBezTo>
                    <a:pt x="0" y="54976"/>
                    <a:pt x="54976" y="0"/>
                    <a:pt x="122792" y="0"/>
                  </a:cubicBezTo>
                  <a:close/>
                </a:path>
              </a:pathLst>
            </a:custGeom>
            <a:solidFill>
              <a:srgbClr val="D6565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697434" cy="368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133580" y="3923996"/>
            <a:ext cx="3404667" cy="3709146"/>
            <a:chOff x="0" y="0"/>
            <a:chExt cx="896702" cy="97689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96702" cy="976894"/>
            </a:xfrm>
            <a:custGeom>
              <a:avLst/>
              <a:gdLst/>
              <a:ahLst/>
              <a:cxnLst/>
              <a:rect r="r" b="b" t="t" l="l"/>
              <a:pathLst>
                <a:path h="976894" w="896702">
                  <a:moveTo>
                    <a:pt x="50026" y="0"/>
                  </a:moveTo>
                  <a:lnTo>
                    <a:pt x="846676" y="0"/>
                  </a:lnTo>
                  <a:cubicBezTo>
                    <a:pt x="874305" y="0"/>
                    <a:pt x="896702" y="22397"/>
                    <a:pt x="896702" y="50026"/>
                  </a:cubicBezTo>
                  <a:lnTo>
                    <a:pt x="896702" y="926868"/>
                  </a:lnTo>
                  <a:cubicBezTo>
                    <a:pt x="896702" y="954497"/>
                    <a:pt x="874305" y="976894"/>
                    <a:pt x="846676" y="976894"/>
                  </a:cubicBezTo>
                  <a:lnTo>
                    <a:pt x="50026" y="976894"/>
                  </a:lnTo>
                  <a:cubicBezTo>
                    <a:pt x="22397" y="976894"/>
                    <a:pt x="0" y="954497"/>
                    <a:pt x="0" y="926868"/>
                  </a:cubicBezTo>
                  <a:lnTo>
                    <a:pt x="0" y="50026"/>
                  </a:lnTo>
                  <a:cubicBezTo>
                    <a:pt x="0" y="22397"/>
                    <a:pt x="22397" y="0"/>
                    <a:pt x="500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896702" cy="1024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3970651" y="6767879"/>
            <a:ext cx="2095500" cy="2095500"/>
          </a:xfrm>
          <a:custGeom>
            <a:avLst/>
            <a:gdLst/>
            <a:ahLst/>
            <a:cxnLst/>
            <a:rect r="r" b="b" t="t" l="l"/>
            <a:pathLst>
              <a:path h="2095500" w="2095500">
                <a:moveTo>
                  <a:pt x="0" y="0"/>
                </a:moveTo>
                <a:lnTo>
                  <a:pt x="2095500" y="0"/>
                </a:lnTo>
                <a:lnTo>
                  <a:pt x="2095500" y="2095500"/>
                </a:lnTo>
                <a:lnTo>
                  <a:pt x="0" y="2095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7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0" id="40"/>
          <p:cNvGrpSpPr/>
          <p:nvPr/>
        </p:nvGrpSpPr>
        <p:grpSpPr>
          <a:xfrm rot="0">
            <a:off x="13970651" y="6767879"/>
            <a:ext cx="1730526" cy="1730526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5656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43" id="43"/>
          <p:cNvSpPr/>
          <p:nvPr/>
        </p:nvSpPr>
        <p:spPr>
          <a:xfrm>
            <a:off x="3452086" y="9046092"/>
            <a:ext cx="11383828" cy="0"/>
          </a:xfrm>
          <a:prstGeom prst="line">
            <a:avLst/>
          </a:prstGeom>
          <a:ln cap="flat" w="47625">
            <a:solidFill>
              <a:srgbClr val="8E93A9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3268386" y="8848104"/>
            <a:ext cx="367401" cy="36740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9FA2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062995" y="8848104"/>
            <a:ext cx="367401" cy="36740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386D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857604" y="8848104"/>
            <a:ext cx="367401" cy="36740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654005" y="8848104"/>
            <a:ext cx="367401" cy="36740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5656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3047274" y="7228329"/>
            <a:ext cx="809625" cy="809625"/>
          </a:xfrm>
          <a:custGeom>
            <a:avLst/>
            <a:gdLst/>
            <a:ahLst/>
            <a:cxnLst/>
            <a:rect r="r" b="b" t="t" l="l"/>
            <a:pathLst>
              <a:path h="809625" w="809625">
                <a:moveTo>
                  <a:pt x="0" y="0"/>
                </a:moveTo>
                <a:lnTo>
                  <a:pt x="809625" y="0"/>
                </a:lnTo>
                <a:lnTo>
                  <a:pt x="80962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6841883" y="7269027"/>
            <a:ext cx="809625" cy="809625"/>
          </a:xfrm>
          <a:custGeom>
            <a:avLst/>
            <a:gdLst/>
            <a:ahLst/>
            <a:cxnLst/>
            <a:rect r="r" b="b" t="t" l="l"/>
            <a:pathLst>
              <a:path h="809625" w="809625">
                <a:moveTo>
                  <a:pt x="0" y="0"/>
                </a:moveTo>
                <a:lnTo>
                  <a:pt x="809625" y="0"/>
                </a:lnTo>
                <a:lnTo>
                  <a:pt x="80962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8" id="58"/>
          <p:cNvSpPr/>
          <p:nvPr/>
        </p:nvSpPr>
        <p:spPr>
          <a:xfrm flipH="false" flipV="false" rot="0">
            <a:off x="10634954" y="7269027"/>
            <a:ext cx="826148" cy="809625"/>
          </a:xfrm>
          <a:custGeom>
            <a:avLst/>
            <a:gdLst/>
            <a:ahLst/>
            <a:cxnLst/>
            <a:rect r="r" b="b" t="t" l="l"/>
            <a:pathLst>
              <a:path h="809625" w="826148">
                <a:moveTo>
                  <a:pt x="0" y="0"/>
                </a:moveTo>
                <a:lnTo>
                  <a:pt x="826148" y="0"/>
                </a:lnTo>
                <a:lnTo>
                  <a:pt x="826148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9" id="59"/>
          <p:cNvSpPr/>
          <p:nvPr/>
        </p:nvSpPr>
        <p:spPr>
          <a:xfrm flipH="false" flipV="false" rot="0">
            <a:off x="14529268" y="7228329"/>
            <a:ext cx="613291" cy="809625"/>
          </a:xfrm>
          <a:custGeom>
            <a:avLst/>
            <a:gdLst/>
            <a:ahLst/>
            <a:cxnLst/>
            <a:rect r="r" b="b" t="t" l="l"/>
            <a:pathLst>
              <a:path h="809625" w="613291">
                <a:moveTo>
                  <a:pt x="0" y="0"/>
                </a:moveTo>
                <a:lnTo>
                  <a:pt x="613291" y="0"/>
                </a:lnTo>
                <a:lnTo>
                  <a:pt x="613291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0" id="60"/>
          <p:cNvSpPr txBox="true"/>
          <p:nvPr/>
        </p:nvSpPr>
        <p:spPr>
          <a:xfrm rot="0">
            <a:off x="2798250" y="1387618"/>
            <a:ext cx="12691500" cy="775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vi-VN" sz="3800" b="true">
                <a:solidFill>
                  <a:srgbClr val="00A8FF"/>
                </a:solidFill>
                <a:latin typeface="Arial"/>
              </a:rPr>
              <a:t>QUY TRÌNH THUẬT TOÁN 3: PHÂN ĐOẠN GAUSSIAN BAYES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227695" y="4688988"/>
            <a:ext cx="244878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vi-VN" sz="2400" b="true">
                <a:solidFill>
                  <a:srgbClr val="000000"/>
                </a:solidFill>
                <a:latin typeface="Arial"/>
              </a:rPr>
              <a:t>Phân Khung &amp; STE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022304" y="4688988"/>
            <a:ext cx="244878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vi-VN" sz="2400" b="true">
                <a:solidFill>
                  <a:srgbClr val="000000"/>
                </a:solidFill>
                <a:latin typeface="Arial"/>
              </a:rPr>
              <a:t>Ước Lượng Gauss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586823" y="3282819"/>
            <a:ext cx="173052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STAGE 01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381433" y="3282819"/>
            <a:ext cx="173052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STAGE 02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227695" y="5232582"/>
            <a:ext cx="2448782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vi-VN" sz="1800">
                <a:solidFill>
                  <a:srgbClr val="333333"/>
                </a:solidFill>
                <a:latin typeface="Arial"/>
              </a:rPr>
              <a:t>Khung 20ms, trượt 10ms. Tính STE chuẩn hóa [0, 1].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022304" y="5232582"/>
            <a:ext cx="2448782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vi-VN" sz="1800">
                <a:solidFill>
                  <a:srgbClr val="333333"/>
                </a:solidFill>
                <a:latin typeface="Arial"/>
              </a:rPr>
              <a:t>Ước lượng tham số μ, σ cho Lặng và Tiếng nói.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816914" y="4688988"/>
            <a:ext cx="244878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vi-VN" sz="2400" b="true">
                <a:solidFill>
                  <a:srgbClr val="000000"/>
                </a:solidFill>
                <a:latin typeface="Arial"/>
              </a:rPr>
              <a:t>Ngưỡng Bayes T*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176042" y="3282819"/>
            <a:ext cx="173052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STAGE 03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816914" y="5232582"/>
            <a:ext cx="2448782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vi-VN" sz="1800">
                <a:solidFill>
                  <a:srgbClr val="333333"/>
                </a:solidFill>
                <a:latin typeface="Arial"/>
              </a:rPr>
              <a:t>Giải Bayes Quadratic tìm nghiệm T* = 0.002495.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511880" y="4688988"/>
            <a:ext cx="264806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vi-VN" sz="2400" b="true">
                <a:solidFill>
                  <a:srgbClr val="000000"/>
                </a:solidFill>
                <a:latin typeface="Arial"/>
              </a:rPr>
              <a:t>Hậu Xử Lý &amp; Biên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3970651" y="3282819"/>
            <a:ext cx="173052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STAGE 04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511880" y="5232582"/>
            <a:ext cx="2648069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lang="vi-VN" sz="1800">
                <a:solidFill>
                  <a:srgbClr val="333333"/>
                </a:solidFill>
                <a:latin typeface="Arial"/>
              </a:rPr>
              <a:t>Khử khoảng lặng &lt;200ms, trích xuất biên thời gian.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itle 1" id="100"/>
          <p:cNvSpPr txBox="true"/>
          <p:nvPr/>
        </p:nvSpPr>
        <p:spPr>
          <a:xfrm rot="0">
            <a:off x="731520" y="400000"/>
            <a:ext cx="16824960" cy="1400000"/>
          </a:xfrm>
          <a:prstGeom prst="rect">
            <a:avLst/>
          </a:prstGeom>
        </p:spPr>
        <p:txBody>
          <a:bodyPr anchor="t" rtlCol="false" tIns="0" lIns="0" bIns="0" rIns="0"/>
          <a:lstStyle/>
          <a:p>
            <a:pPr algn="l"/>
            <a:r>
              <a:rPr lang="vi-VN" b="true" sz="3200">
                <a:solidFill>
                  <a:srgbClr val="00A8FF"/>
                </a:solidFill>
                <a:latin typeface="Arial"/>
                <a:cs typeface="Arial"/>
              </a:rPr>
              <a:t>HUẤN LUYỆN PHÂN BỐ GAUSSIAN &amp; NGƯỠNG TỐI ƯU T*</a:t>
            </a:r>
          </a:p>
          <a:p>
            <a:pPr algn="l">
              <a:spcBef>
                <a:spcPts val="400"/>
              </a:spcBef>
            </a:pPr>
            <a:r>
              <a:rPr lang="vi-VN" b="true" sz="2000">
                <a:solidFill>
                  <a:srgbClr val="475569"/>
                </a:solidFill>
                <a:latin typeface="Arial"/>
                <a:cs typeface="Arial"/>
              </a:rPr>
              <a:t>Ước lượng tham số (μ, σ) từ 4 tệp huấn luyện và giải nghiệm Bayes Quadratic</a:t>
            </a:r>
          </a:p>
        </p:txBody>
      </p:sp>
      <p:sp>
        <p:nvSpPr>
          <p:cNvPr name="Freeform 2" id="2"/>
          <p:cNvSpPr/>
          <p:nvPr/>
        </p:nvSpPr>
        <p:spPr>
          <a:xfrm flipH="false" flipV="false" rot="0">
            <a:off x="181856" y="1990200"/>
            <a:ext cx="17924289" cy="6139069"/>
          </a:xfrm>
          <a:custGeom>
            <a:avLst/>
            <a:gdLst/>
            <a:ahLst/>
            <a:cxnLst/>
            <a:rect r="r" b="b" t="t" l="l"/>
            <a:pathLst>
              <a:path h="6139069" w="17924289">
                <a:moveTo>
                  <a:pt x="0" y="0"/>
                </a:moveTo>
                <a:lnTo>
                  <a:pt x="17924288" y="0"/>
                </a:lnTo>
                <a:lnTo>
                  <a:pt x="17924288" y="6139069"/>
                </a:lnTo>
                <a:lnTo>
                  <a:pt x="0" y="6139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4904" y="8073896"/>
            <a:ext cx="8686800" cy="1800000"/>
          </a:xfrm>
          <a:prstGeom prst="rect">
            <a:avLst/>
          </a:prstGeom>
        </p:spPr>
        <p:txBody>
          <a:bodyPr anchor="t" rtlCol="false" tIns="0" lIns="0" bIns="0" rIns="0"/>
          <a:lstStyle/>
          <a:p>
            <a:pPr algn="l"/>
            <a:r>
              <a:rPr lang="vi-VN" b="true" sz="2000">
                <a:solidFill>
                  <a:srgbClr val="0F172A"/>
                </a:solidFill>
                <a:latin typeface="Arial"/>
                <a:cs typeface="Arial"/>
              </a:rPr>
              <a:t>• Lặng (Silence): μ = 0.00025, σ = 0.00063 (phân bố hẹp sát 0)</a:t>
            </a:r>
          </a:p>
          <a:p>
            <a:pPr algn="l">
              <a:spcBef>
                <a:spcPts val="400"/>
              </a:spcBef>
            </a:pPr>
            <a:r>
              <a:rPr lang="vi-VN" b="true" sz="2000">
                <a:solidFill>
                  <a:srgbClr val="0F172A"/>
                </a:solidFill>
                <a:latin typeface="Arial"/>
                <a:cs typeface="Arial"/>
              </a:rPr>
              <a:t>• Tiếng nói (Speech): μ = 0.20247, σ = 0.23569 (phân tán rộng)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54000" y="8073896"/>
            <a:ext cx="8800000" cy="1800000"/>
          </a:xfrm>
          <a:prstGeom prst="rect">
            <a:avLst/>
          </a:prstGeom>
        </p:spPr>
        <p:txBody>
          <a:bodyPr anchor="t" rtlCol="false" tIns="0" lIns="0" bIns="0" rIns="0"/>
          <a:lstStyle/>
          <a:p>
            <a:pPr algn="l"/>
            <a:r>
              <a:rPr lang="vi-VN" b="true" sz="2000">
                <a:solidFill>
                  <a:srgbClr val="F58220"/>
                </a:solidFill>
                <a:latin typeface="Arial"/>
                <a:cs typeface="Arial"/>
              </a:rPr>
              <a:t>• Nghiệm Bayes: p(x|Silence) = p(x|Speech) → T* = 0.002495</a:t>
            </a:r>
          </a:p>
          <a:p>
            <a:pPr algn="l">
              <a:spcBef>
                <a:spcPts val="400"/>
              </a:spcBef>
            </a:pPr>
            <a:r>
              <a:rPr lang="vi-VN" b="true" sz="2000">
                <a:solidFill>
                  <a:srgbClr val="0F172A"/>
                </a:solidFill>
                <a:latin typeface="Arial"/>
                <a:cs typeface="Arial"/>
              </a:rPr>
              <a:t>• Điểm giao nhau tối thiểu hóa sai số phân loại nhầm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itle 4" id="21"/>
          <p:cNvSpPr txBox="true"/>
          <p:nvPr/>
        </p:nvSpPr>
        <p:spPr>
          <a:xfrm rot="0">
            <a:off x="914400" y="400000"/>
            <a:ext cx="16400000" cy="1300000"/>
          </a:xfrm>
          <a:prstGeom prst="rect">
            <a:avLst/>
          </a:prstGeom>
        </p:spPr>
        <p:txBody>
          <a:bodyPr anchor="t" rtlCol="false" tIns="0" lIns="0" bIns="0" rIns="0"/>
          <a:lstStyle/>
          <a:p>
            <a:pPr algn="l"/>
            <a:r>
              <a:rPr lang="vi-VN" b="true" sz="3200">
                <a:solidFill>
                  <a:srgbClr val="00A8FF"/>
                </a:solidFill>
                <a:latin typeface="Arial"/>
                <a:cs typeface="Arial"/>
              </a:rPr>
              <a:t>KẾT QUẢ ĐÁNH GIÁ ĐỊNH LƯỢNG TRÊN 4 TỆP KIỂM THỬ</a:t>
            </a:r>
          </a:p>
          <a:p>
            <a:pPr algn="l">
              <a:spcBef>
                <a:spcPts val="400"/>
              </a:spcBef>
            </a:pPr>
            <a:r>
              <a:rPr lang="vi-VN" b="true" sz="2000">
                <a:solidFill>
                  <a:srgbClr val="475569"/>
                </a:solidFill>
                <a:latin typeface="Arial"/>
                <a:cs typeface="Arial"/>
              </a:rPr>
              <a:t>So sánh sai số biên thời gian MAE, RMSE và độ nhạy theo môi trường tạp âm</a:t>
            </a:r>
          </a:p>
        </p:txBody>
      </p:sp>
      <p:graphicFrame>
        <p:nvGraphicFramePr>
          <p:cNvPr id="20" name="Benchmark Table"/>
          <p:cNvGraphicFramePr>
            <a:graphicFrameLocks noGrp="1"/>
          </p:cNvGraphicFramePr>
          <p:nvPr/>
        </p:nvGraphicFramePr>
        <p:xfrm>
          <a:off x="914400" y="1800000"/>
          <a:ext cx="16400000" cy="4500000"/>
        </p:xfrm>
        <a:graphic>
          <a:graphicData uri="http://schemas.openxmlformats.org/drawingml/2006/table">
            <a:tbl>
              <a:tblPr/>
              <a:tblGrid>
                <a:gridCol w="3200000"/>
                <a:gridCol w="2800000"/>
                <a:gridCol w="2600000"/>
                <a:gridCol w="3900000"/>
                <a:gridCol w="3900000"/>
              </a:tblGrid>
              <a:tr h="60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vi-VN" sz="2000" b="true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Tên Tệp</a:t>
                      </a:r>
                    </a:p>
                  </a:txBody>
                  <a:tcPr marL="180000" marR="180000" marT="90000" marB="90000">
                    <a:solidFill>
                      <a:srgbClr val="0F172A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vi-VN" sz="2000" b="true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Môi Trường</a:t>
                      </a:r>
                    </a:p>
                  </a:txBody>
                  <a:tcPr marL="180000" marR="180000" marT="90000" marB="90000">
                    <a:solidFill>
                      <a:srgbClr val="0F172A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2000" b="true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SNR (dB)</a:t>
                      </a:r>
                    </a:p>
                  </a:txBody>
                  <a:tcPr marL="180000" marR="180000" marT="90000" marB="90000">
                    <a:solidFill>
                      <a:srgbClr val="0F172A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2000" b="true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MAE (ms)</a:t>
                      </a:r>
                    </a:p>
                  </a:txBody>
                  <a:tcPr marL="180000" marR="180000" marT="90000" marB="90000">
                    <a:solidFill>
                      <a:srgbClr val="0F172A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2000" b="true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RMSE (ms)</a:t>
                      </a:r>
                    </a:p>
                  </a:txBody>
                  <a:tcPr marL="180000" marR="180000" marT="90000" marB="90000">
                    <a:solidFill>
                      <a:srgbClr val="0F172A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50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phone_F2</a:t>
                      </a:r>
                    </a:p>
                  </a:txBody>
                  <a:tcPr marL="180000" marR="180000" marT="90000" marB="90000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Phone (Nữ)</a:t>
                      </a:r>
                    </a:p>
                  </a:txBody>
                  <a:tcPr marL="180000" marR="180000" marT="90000" marB="90000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24.8 dB</a:t>
                      </a:r>
                    </a:p>
                  </a:txBody>
                  <a:tcPr marL="180000" marR="180000" marT="90000" marB="90000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27.5000 ms</a:t>
                      </a:r>
                    </a:p>
                  </a:txBody>
                  <a:tcPr marL="180000" marR="180000" marT="90000" marB="90000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37.1652 ms</a:t>
                      </a:r>
                    </a:p>
                  </a:txBody>
                  <a:tcPr marL="180000" marR="180000" marT="90000" marB="90000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50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phone_M2</a:t>
                      </a:r>
                    </a:p>
                  </a:txBody>
                  <a:tcPr marL="180000" marR="180000" marT="90000" marB="90000">
                    <a:solidFill>
                      <a:srgbClr val="F8FAFC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Phone (Nam)</a:t>
                      </a:r>
                    </a:p>
                  </a:txBody>
                  <a:tcPr marL="180000" marR="180000" marT="90000" marB="90000">
                    <a:solidFill>
                      <a:srgbClr val="F8FAFC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27.0 dB</a:t>
                      </a:r>
                    </a:p>
                  </a:txBody>
                  <a:tcPr marL="180000" marR="180000" marT="90000" marB="90000">
                    <a:solidFill>
                      <a:srgbClr val="F8FAFC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2.5000 ms</a:t>
                      </a:r>
                    </a:p>
                  </a:txBody>
                  <a:tcPr marL="180000" marR="180000" marT="90000" marB="90000">
                    <a:solidFill>
                      <a:srgbClr val="F8FAFC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2.5000 ms</a:t>
                      </a:r>
                    </a:p>
                  </a:txBody>
                  <a:tcPr marL="180000" marR="180000" marT="90000" marB="90000">
                    <a:solidFill>
                      <a:srgbClr val="F8FAFC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50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studio_F2</a:t>
                      </a:r>
                    </a:p>
                  </a:txBody>
                  <a:tcPr marL="180000" marR="180000" marT="90000" marB="90000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Studio (Nữ)</a:t>
                      </a:r>
                    </a:p>
                  </a:txBody>
                  <a:tcPr marL="180000" marR="180000" marT="90000" marB="90000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49.3 dB</a:t>
                      </a:r>
                    </a:p>
                  </a:txBody>
                  <a:tcPr marL="180000" marR="180000" marT="90000" marB="90000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5.0000 ms</a:t>
                      </a:r>
                    </a:p>
                  </a:txBody>
                  <a:tcPr marL="180000" marR="180000" marT="90000" marB="90000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5.5929 ms</a:t>
                      </a:r>
                    </a:p>
                  </a:txBody>
                  <a:tcPr marL="180000" marR="180000" marT="90000" marB="90000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50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studio_M2</a:t>
                      </a:r>
                    </a:p>
                  </a:txBody>
                  <a:tcPr marL="180000" marR="180000" marT="90000" marB="90000">
                    <a:solidFill>
                      <a:srgbClr val="F8FAFC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Studio (Nam)</a:t>
                      </a:r>
                    </a:p>
                  </a:txBody>
                  <a:tcPr marL="180000" marR="180000" marT="90000" marB="90000">
                    <a:solidFill>
                      <a:srgbClr val="F8FAFC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37.7 dB</a:t>
                      </a:r>
                    </a:p>
                  </a:txBody>
                  <a:tcPr marL="180000" marR="180000" marT="90000" marB="90000">
                    <a:solidFill>
                      <a:srgbClr val="F8FAFC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12.4940 ms</a:t>
                      </a:r>
                    </a:p>
                  </a:txBody>
                  <a:tcPr marL="180000" marR="180000" marT="90000" marB="90000">
                    <a:solidFill>
                      <a:srgbClr val="F8FAFC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false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16.0031 ms</a:t>
                      </a:r>
                    </a:p>
                  </a:txBody>
                  <a:tcPr marL="180000" marR="180000" marT="90000" marB="90000">
                    <a:solidFill>
                      <a:srgbClr val="F8FAFC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5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vi-VN" sz="1900" b="true">
                          <a:solidFill>
                            <a:srgbClr val="C2410C"/>
                          </a:solidFill>
                          <a:latin typeface="Arial"/>
                          <a:cs typeface="Arial"/>
                        </a:rPr>
                        <a:t>Trung Bình Phone</a:t>
                      </a:r>
                    </a:p>
                  </a:txBody>
                  <a:tcPr marL="180000" marR="180000" marT="90000" marB="90000">
                    <a:solidFill>
                      <a:srgbClr val="F1F5F9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vi-VN" sz="1900" b="true">
                          <a:solidFill>
                            <a:srgbClr val="C2410C"/>
                          </a:solidFill>
                          <a:latin typeface="Arial"/>
                          <a:cs typeface="Arial"/>
                        </a:rPr>
                        <a:t>Phone (2 tệp)</a:t>
                      </a:r>
                    </a:p>
                  </a:txBody>
                  <a:tcPr marL="180000" marR="180000" marT="90000" marB="90000">
                    <a:solidFill>
                      <a:srgbClr val="F1F5F9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true">
                          <a:solidFill>
                            <a:srgbClr val="C2410C"/>
                          </a:solidFill>
                          <a:latin typeface="Arial"/>
                          <a:cs typeface="Arial"/>
                        </a:rPr>
                        <a:t>25.9 dB</a:t>
                      </a:r>
                    </a:p>
                  </a:txBody>
                  <a:tcPr marL="180000" marR="180000" marT="90000" marB="90000">
                    <a:solidFill>
                      <a:srgbClr val="F1F5F9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true">
                          <a:solidFill>
                            <a:srgbClr val="C2410C"/>
                          </a:solidFill>
                          <a:latin typeface="Arial"/>
                          <a:cs typeface="Arial"/>
                        </a:rPr>
                        <a:t>15.0000 ms</a:t>
                      </a:r>
                    </a:p>
                  </a:txBody>
                  <a:tcPr marL="180000" marR="180000" marT="90000" marB="90000">
                    <a:solidFill>
                      <a:srgbClr val="F1F5F9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true">
                          <a:solidFill>
                            <a:srgbClr val="C2410C"/>
                          </a:solidFill>
                          <a:latin typeface="Arial"/>
                          <a:cs typeface="Arial"/>
                        </a:rPr>
                        <a:t>19.8326 ms</a:t>
                      </a:r>
                    </a:p>
                  </a:txBody>
                  <a:tcPr marL="180000" marR="180000" marT="90000" marB="90000">
                    <a:solidFill>
                      <a:srgbClr val="F1F5F9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5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vi-VN" sz="1900" b="true">
                          <a:solidFill>
                            <a:srgbClr val="0369A1"/>
                          </a:solidFill>
                          <a:latin typeface="Arial"/>
                          <a:cs typeface="Arial"/>
                        </a:rPr>
                        <a:t>Trung Bình Studio</a:t>
                      </a:r>
                    </a:p>
                  </a:txBody>
                  <a:tcPr marL="180000" marR="180000" marT="90000" marB="90000">
                    <a:solidFill>
                      <a:srgbClr val="F1F5F9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vi-VN" sz="1900" b="true">
                          <a:solidFill>
                            <a:srgbClr val="0369A1"/>
                          </a:solidFill>
                          <a:latin typeface="Arial"/>
                          <a:cs typeface="Arial"/>
                        </a:rPr>
                        <a:t>Studio (2 tệp)</a:t>
                      </a:r>
                    </a:p>
                  </a:txBody>
                  <a:tcPr marL="180000" marR="180000" marT="90000" marB="90000">
                    <a:solidFill>
                      <a:srgbClr val="F1F5F9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true">
                          <a:solidFill>
                            <a:srgbClr val="0369A1"/>
                          </a:solidFill>
                          <a:latin typeface="Arial"/>
                          <a:cs typeface="Arial"/>
                        </a:rPr>
                        <a:t>43.5 dB</a:t>
                      </a:r>
                    </a:p>
                  </a:txBody>
                  <a:tcPr marL="180000" marR="180000" marT="90000" marB="90000">
                    <a:solidFill>
                      <a:srgbClr val="F1F5F9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true">
                          <a:solidFill>
                            <a:srgbClr val="0369A1"/>
                          </a:solidFill>
                          <a:latin typeface="Arial"/>
                          <a:cs typeface="Arial"/>
                        </a:rPr>
                        <a:t>8.7470 ms</a:t>
                      </a:r>
                    </a:p>
                  </a:txBody>
                  <a:tcPr marL="180000" marR="180000" marT="90000" marB="90000">
                    <a:solidFill>
                      <a:srgbClr val="F1F5F9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1900" b="true">
                          <a:solidFill>
                            <a:srgbClr val="0369A1"/>
                          </a:solidFill>
                          <a:latin typeface="Arial"/>
                          <a:cs typeface="Arial"/>
                        </a:rPr>
                        <a:t>10.7980 ms</a:t>
                      </a:r>
                    </a:p>
                  </a:txBody>
                  <a:tcPr marL="180000" marR="180000" marT="90000" marB="90000">
                    <a:solidFill>
                      <a:srgbClr val="F1F5F9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55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vi-VN" sz="2000" b="true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Toàn Bộ Kiểm Thử</a:t>
                      </a:r>
                    </a:p>
                  </a:txBody>
                  <a:tcPr marL="180000" marR="180000" marT="90000" marB="90000">
                    <a:solidFill>
                      <a:srgbClr val="0284C7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vi-VN" sz="2000" b="true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Overall (4 tệp)</a:t>
                      </a:r>
                    </a:p>
                  </a:txBody>
                  <a:tcPr marL="180000" marR="180000" marT="90000" marB="90000">
                    <a:solidFill>
                      <a:srgbClr val="0284C7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2000" b="true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34.7 dB</a:t>
                      </a:r>
                    </a:p>
                  </a:txBody>
                  <a:tcPr marL="180000" marR="180000" marT="90000" marB="90000">
                    <a:solidFill>
                      <a:srgbClr val="0284C7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2000" b="true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11.8735 ms</a:t>
                      </a:r>
                    </a:p>
                  </a:txBody>
                  <a:tcPr marL="180000" marR="180000" marT="90000" marB="90000">
                    <a:solidFill>
                      <a:srgbClr val="0284C7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lang="vi-VN" sz="2000" b="true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15.3153 ms</a:t>
                      </a:r>
                    </a:p>
                  </a:txBody>
                  <a:tcPr marL="180000" marR="180000" marT="90000" marB="90000">
                    <a:solidFill>
                      <a:srgbClr val="0284C7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name="Notes 4" id="22"/>
          <p:cNvSpPr txBox="true"/>
          <p:nvPr/>
        </p:nvSpPr>
        <p:spPr>
          <a:xfrm rot="0">
            <a:off x="914400" y="6700000"/>
            <a:ext cx="16400000" cy="2800000"/>
          </a:xfrm>
          <a:prstGeom prst="rect">
            <a:avLst/>
          </a:prstGeom>
        </p:spPr>
        <p:txBody>
          <a:bodyPr anchor="t" rtlCol="false" tIns="0" lIns="0" bIns="0" rIns="0"/>
          <a:lstStyle/>
          <a:p>
            <a:pPr algn="l"/>
            <a:r>
              <a:rPr lang="vi-VN" b="true" sz="2100">
                <a:solidFill>
                  <a:srgbClr val="0F172A"/>
                </a:solidFill>
                <a:latin typeface="Arial"/>
                <a:cs typeface="Arial"/>
              </a:rPr>
              <a:t>• Môi trường Studio (MAE 8.7ms) vượt trội rõ rệt so với Phone (MAE 15.0ms) do tỷ số SNR cao (&gt;37dB).</a:t>
            </a:r>
          </a:p>
          <a:p>
            <a:pPr algn="l">
              <a:spcBef>
                <a:spcPts val="500"/>
              </a:spcBef>
            </a:pPr>
            <a:r>
              <a:rPr lang="vi-VN" b="true" sz="2100">
                <a:solidFill>
                  <a:srgbClr val="0F172A"/>
                </a:solidFill>
                <a:latin typeface="Arial"/>
                <a:cs typeface="Arial"/>
              </a:rPr>
              <a:t>• Ngưỡng Bayes T* = 0.002495 phân tách ổn định, sai số toàn bộ trung bình đạt mức rất tốt (~11.9ms).</a:t>
            </a:r>
          </a:p>
          <a:p>
            <a:pPr algn="l">
              <a:spcBef>
                <a:spcPts val="500"/>
              </a:spcBef>
            </a:pPr>
            <a:r>
              <a:rPr lang="vi-VN" b="true" sz="2100">
                <a:solidFill>
                  <a:srgbClr val="C2410C"/>
                </a:solidFill>
                <a:latin typeface="Arial"/>
                <a:cs typeface="Arial"/>
              </a:rPr>
              <a:t>• Nhiễu nền kênh truyền điện thoại là tác nhân chính gây kéo dài khoảng lặng ở đuôi âm (phone_F2).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itle 5" id="101"/>
          <p:cNvSpPr txBox="true"/>
          <p:nvPr/>
        </p:nvSpPr>
        <p:spPr>
          <a:xfrm rot="0">
            <a:off x="350000" y="100000"/>
            <a:ext cx="17500000" cy="650000"/>
          </a:xfrm>
          <a:prstGeom prst="rect">
            <a:avLst/>
          </a:prstGeom>
        </p:spPr>
        <p:txBody>
          <a:bodyPr anchor="t" rtlCol="false" tIns="0" lIns="0" bIns="0" rIns="0"/>
          <a:lstStyle/>
          <a:p>
            <a:pPr algn="l"/>
            <a:r>
              <a:rPr lang="vi-VN" b="true" sz="2400">
                <a:solidFill>
                  <a:srgbClr val="00A8FF"/>
                </a:solidFill>
                <a:latin typeface="Arial"/>
                <a:cs typeface="Arial"/>
              </a:rPr>
              <a:t>DẠNG SÓNG &amp; PHÂN TÍCH NGUYÊN NHÂN SAI SỐ ÂM HỌC (4 TỆP KIỂM THỬ)</a:t>
            </a:r>
          </a:p>
        </p:txBody>
      </p:sp>
      <p:sp>
        <p:nvSpPr>
          <p:cNvPr name="Freeform 2" id="2"/>
          <p:cNvSpPr/>
          <p:nvPr/>
        </p:nvSpPr>
        <p:spPr>
          <a:xfrm flipH="false" flipV="false" rot="0">
            <a:off x="323918" y="0"/>
            <a:ext cx="8704904" cy="4372149"/>
          </a:xfrm>
          <a:custGeom>
            <a:avLst/>
            <a:gdLst/>
            <a:ahLst/>
            <a:cxnLst/>
            <a:rect r="r" b="b" t="t" l="l"/>
            <a:pathLst>
              <a:path h="4372149" w="8704904">
                <a:moveTo>
                  <a:pt x="0" y="0"/>
                </a:moveTo>
                <a:lnTo>
                  <a:pt x="8704903" y="0"/>
                </a:lnTo>
                <a:lnTo>
                  <a:pt x="8704903" y="4372149"/>
                </a:lnTo>
                <a:lnTo>
                  <a:pt x="0" y="4372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0" t="0" r="-5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26611" y="0"/>
            <a:ext cx="8751661" cy="4382874"/>
          </a:xfrm>
          <a:custGeom>
            <a:avLst/>
            <a:gdLst/>
            <a:ahLst/>
            <a:cxnLst/>
            <a:rect r="r" b="b" t="t" l="l"/>
            <a:pathLst>
              <a:path h="4382874" w="8751661">
                <a:moveTo>
                  <a:pt x="0" y="0"/>
                </a:moveTo>
                <a:lnTo>
                  <a:pt x="8751660" y="0"/>
                </a:lnTo>
                <a:lnTo>
                  <a:pt x="8751660" y="4382874"/>
                </a:lnTo>
                <a:lnTo>
                  <a:pt x="0" y="4382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79" t="-665" r="-77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3918" y="5077883"/>
            <a:ext cx="9102693" cy="4531280"/>
          </a:xfrm>
          <a:custGeom>
            <a:avLst/>
            <a:gdLst/>
            <a:ahLst/>
            <a:cxnLst/>
            <a:rect r="r" b="b" t="t" l="l"/>
            <a:pathLst>
              <a:path h="4531280" w="9102693">
                <a:moveTo>
                  <a:pt x="0" y="0"/>
                </a:moveTo>
                <a:lnTo>
                  <a:pt x="9102693" y="0"/>
                </a:lnTo>
                <a:lnTo>
                  <a:pt x="9102693" y="4531280"/>
                </a:lnTo>
                <a:lnTo>
                  <a:pt x="0" y="4531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8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13391" y="5143500"/>
            <a:ext cx="8578099" cy="4258193"/>
          </a:xfrm>
          <a:custGeom>
            <a:avLst/>
            <a:gdLst/>
            <a:ahLst/>
            <a:cxnLst/>
            <a:rect r="r" b="b" t="t" l="l"/>
            <a:pathLst>
              <a:path h="4258193" w="8578099">
                <a:moveTo>
                  <a:pt x="0" y="0"/>
                </a:moveTo>
                <a:lnTo>
                  <a:pt x="8578099" y="0"/>
                </a:lnTo>
                <a:lnTo>
                  <a:pt x="8578099" y="4258193"/>
                </a:lnTo>
                <a:lnTo>
                  <a:pt x="0" y="4258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0000" y="4400000"/>
            <a:ext cx="8700000" cy="750000"/>
          </a:xfrm>
          <a:prstGeom prst="rect">
            <a:avLst/>
          </a:prstGeom>
        </p:spPr>
        <p:txBody>
          <a:bodyPr anchor="t" rtlCol="false" tIns="0" lIns="0" bIns="0" rIns="0"/>
          <a:lstStyle/>
          <a:p>
            <a:pPr algn="l"/>
            <a:r>
              <a:rPr lang="vi-VN" b="true" sz="2000">
                <a:solidFill>
                  <a:srgbClr val="C2410C"/>
                </a:solidFill>
                <a:latin typeface="Arial"/>
                <a:cs typeface="Arial"/>
              </a:rPr>
              <a:t>• phone_F2 (Phone): Nhiễu nền kéo dài đuôi → Err End 52.5ms (MAE 27.5ms)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50000" y="4400000"/>
            <a:ext cx="8700000" cy="750000"/>
          </a:xfrm>
          <a:prstGeom prst="rect">
            <a:avLst/>
          </a:prstGeom>
        </p:spPr>
        <p:txBody>
          <a:bodyPr anchor="t" rtlCol="false" tIns="0" lIns="0" bIns="0" rIns="0"/>
          <a:lstStyle/>
          <a:p>
            <a:pPr algn="l"/>
            <a:r>
              <a:rPr lang="vi-VN" b="true" sz="2000">
                <a:solidFill>
                  <a:srgbClr val="0284C7"/>
                </a:solidFill>
                <a:latin typeface="Arial"/>
                <a:cs typeface="Arial"/>
              </a:rPr>
              <a:t>• phone_M2 (Phone): Phân tách dứt khoát → Err Start=End 2.5ms (MAE 2.5ms)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0000" y="9600000"/>
            <a:ext cx="8700000" cy="750000"/>
          </a:xfrm>
          <a:prstGeom prst="rect">
            <a:avLst/>
          </a:prstGeom>
        </p:spPr>
        <p:txBody>
          <a:bodyPr anchor="t" rtlCol="false" tIns="0" lIns="0" bIns="0" rIns="0"/>
          <a:lstStyle/>
          <a:p>
            <a:pPr algn="l"/>
            <a:r>
              <a:rPr lang="vi-VN" b="true" sz="2000">
                <a:solidFill>
                  <a:srgbClr val="0284C7"/>
                </a:solidFill>
                <a:latin typeface="Arial"/>
                <a:cs typeface="Arial"/>
              </a:rPr>
              <a:t>• studio_F2 (Studio): SNR cao 49dB, bám sát chuẩn → MAE 5.0ms (RMSE 5.6ms)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50000" y="9600000"/>
            <a:ext cx="8700000" cy="750000"/>
          </a:xfrm>
          <a:prstGeom prst="rect">
            <a:avLst/>
          </a:prstGeom>
        </p:spPr>
        <p:txBody>
          <a:bodyPr anchor="t" rtlCol="false" tIns="0" lIns="0" bIns="0" rIns="0"/>
          <a:lstStyle/>
          <a:p>
            <a:pPr algn="l"/>
            <a:r>
              <a:rPr lang="vi-VN" b="true" sz="2000">
                <a:solidFill>
                  <a:srgbClr val="0F172A"/>
                </a:solidFill>
                <a:latin typeface="Arial"/>
                <a:cs typeface="Arial"/>
              </a:rPr>
              <a:t>• studio_M2 (Studio): Lặng giữa câu trễ bắt đầu → Err Start 22.5ms (MAE 12.5ms)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DAHXObjEl2k</dc:identifier>
  <dcterms:modified xsi:type="dcterms:W3CDTF">2011-08-01T06:04:30Z</dcterms:modified>
  <cp:revision>1</cp:revision>
  <dc:title>Digital vs. Analog Reliable Signal Science Presentation</dc:title>
</cp:coreProperties>
</file>